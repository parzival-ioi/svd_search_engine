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Glacial Indifference Bold" charset="1" panose="00000800000000000000"/>
      <p:regular r:id="rId38"/>
    </p:embeddedFont>
    <p:embeddedFont>
      <p:font typeface="Glacial Indifference" charset="1" panose="00000000000000000000"/>
      <p:regular r:id="rId39"/>
    </p:embeddedFont>
    <p:embeddedFont>
      <p:font typeface="League Spartan" charset="1" panose="00000800000000000000"/>
      <p:regular r:id="rId40"/>
    </p:embeddedFont>
    <p:embeddedFont>
      <p:font typeface="Glacial Indifference Italics" charset="1" panose="00000000000000000000"/>
      <p:regular r:id="rId41"/>
    </p:embeddedFont>
    <p:embeddedFont>
      <p:font typeface="Canva Sans" charset="1" panose="020B0503030501040103"/>
      <p:regular r:id="rId42"/>
    </p:embeddedFont>
    <p:embeddedFont>
      <p:font typeface="Canva Sans Medium" charset="1" panose="020B0603030501040103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embeddings/oleObject2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embeddings/oleObject3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3.png" Type="http://schemas.openxmlformats.org/officeDocument/2006/relationships/image"/><Relationship Id="rId5" Target="../embeddings/oleObject4.bin" Type="http://schemas.openxmlformats.org/officeDocument/2006/relationships/oleObject"/><Relationship Id="rId6" Target="../media/image34.png" Type="http://schemas.openxmlformats.org/officeDocument/2006/relationships/image"/><Relationship Id="rId7" Target="../embeddings/oleObject5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embeddings/oleObject6.bin" Type="http://schemas.openxmlformats.org/officeDocument/2006/relationships/oleObjec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9.png" Type="http://schemas.openxmlformats.org/officeDocument/2006/relationships/image"/><Relationship Id="rId5" Target="../embeddings/oleObject7.bin" Type="http://schemas.openxmlformats.org/officeDocument/2006/relationships/oleObjec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1.png" Type="http://schemas.openxmlformats.org/officeDocument/2006/relationships/image"/><Relationship Id="rId5" Target="../embeddings/oleObject8.bin" Type="http://schemas.openxmlformats.org/officeDocument/2006/relationships/oleObjec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3.png" Type="http://schemas.openxmlformats.org/officeDocument/2006/relationships/image"/><Relationship Id="rId5" Target="https://en.wikipedia.org/wiki/Kimono" TargetMode="External" Type="http://schemas.openxmlformats.org/officeDocument/2006/relationships/hyperlink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5067" y="3135477"/>
            <a:ext cx="4129503" cy="2803795"/>
          </a:xfrm>
          <a:custGeom>
            <a:avLst/>
            <a:gdLst/>
            <a:ahLst/>
            <a:cxnLst/>
            <a:rect r="r" b="b" t="t" l="l"/>
            <a:pathLst>
              <a:path h="2803795" w="4129503">
                <a:moveTo>
                  <a:pt x="0" y="0"/>
                </a:moveTo>
                <a:lnTo>
                  <a:pt x="4129503" y="0"/>
                </a:lnTo>
                <a:lnTo>
                  <a:pt x="4129503" y="2803794"/>
                </a:lnTo>
                <a:lnTo>
                  <a:pt x="0" y="28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3711" t="-11166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34570" y="2989429"/>
            <a:ext cx="5934570" cy="2945141"/>
          </a:xfrm>
          <a:custGeom>
            <a:avLst/>
            <a:gdLst/>
            <a:ahLst/>
            <a:cxnLst/>
            <a:rect r="r" b="b" t="t" l="l"/>
            <a:pathLst>
              <a:path h="2945141" w="5934570">
                <a:moveTo>
                  <a:pt x="0" y="0"/>
                </a:moveTo>
                <a:lnTo>
                  <a:pt x="5934570" y="0"/>
                </a:lnTo>
                <a:lnTo>
                  <a:pt x="5934570" y="2945141"/>
                </a:lnTo>
                <a:lnTo>
                  <a:pt x="0" y="2945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150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51191" y="3025941"/>
            <a:ext cx="5252448" cy="2908629"/>
          </a:xfrm>
          <a:custGeom>
            <a:avLst/>
            <a:gdLst/>
            <a:ahLst/>
            <a:cxnLst/>
            <a:rect r="r" b="b" t="t" l="l"/>
            <a:pathLst>
              <a:path h="2908629" w="5252448">
                <a:moveTo>
                  <a:pt x="0" y="0"/>
                </a:moveTo>
                <a:lnTo>
                  <a:pt x="5252448" y="0"/>
                </a:lnTo>
                <a:lnTo>
                  <a:pt x="5252448" y="2908629"/>
                </a:lnTo>
                <a:lnTo>
                  <a:pt x="0" y="2908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4033" r="-1298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5995" y="5943973"/>
            <a:ext cx="4339601" cy="1865053"/>
          </a:xfrm>
          <a:custGeom>
            <a:avLst/>
            <a:gdLst/>
            <a:ahLst/>
            <a:cxnLst/>
            <a:rect r="r" b="b" t="t" l="l"/>
            <a:pathLst>
              <a:path h="1865053" w="4339601">
                <a:moveTo>
                  <a:pt x="0" y="0"/>
                </a:moveTo>
                <a:lnTo>
                  <a:pt x="4339600" y="0"/>
                </a:lnTo>
                <a:lnTo>
                  <a:pt x="4339600" y="1865053"/>
                </a:lnTo>
                <a:lnTo>
                  <a:pt x="0" y="1865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753" t="0" r="0" b="-21819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25595" y="5939271"/>
            <a:ext cx="5934570" cy="1760218"/>
          </a:xfrm>
          <a:custGeom>
            <a:avLst/>
            <a:gdLst/>
            <a:ahLst/>
            <a:cxnLst/>
            <a:rect r="r" b="b" t="t" l="l"/>
            <a:pathLst>
              <a:path h="1760218" w="5934570">
                <a:moveTo>
                  <a:pt x="0" y="0"/>
                </a:moveTo>
                <a:lnTo>
                  <a:pt x="5934570" y="0"/>
                </a:lnTo>
                <a:lnTo>
                  <a:pt x="5934570" y="1760219"/>
                </a:lnTo>
                <a:lnTo>
                  <a:pt x="0" y="1760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3714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42216" y="5939271"/>
            <a:ext cx="5297935" cy="1796730"/>
          </a:xfrm>
          <a:custGeom>
            <a:avLst/>
            <a:gdLst/>
            <a:ahLst/>
            <a:cxnLst/>
            <a:rect r="r" b="b" t="t" l="l"/>
            <a:pathLst>
              <a:path h="1796730" w="5297935">
                <a:moveTo>
                  <a:pt x="0" y="0"/>
                </a:moveTo>
                <a:lnTo>
                  <a:pt x="5297935" y="0"/>
                </a:lnTo>
                <a:lnTo>
                  <a:pt x="5297935" y="1796731"/>
                </a:lnTo>
                <a:lnTo>
                  <a:pt x="0" y="179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2016" b="-230298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1526778">
            <a:off x="-359214" y="-2159952"/>
            <a:ext cx="5104405" cy="5269064"/>
          </a:xfrm>
          <a:custGeom>
            <a:avLst/>
            <a:gdLst/>
            <a:ahLst/>
            <a:cxnLst/>
            <a:rect r="r" b="b" t="t" l="l"/>
            <a:pathLst>
              <a:path h="5269064" w="5104405">
                <a:moveTo>
                  <a:pt x="5104405" y="5269063"/>
                </a:moveTo>
                <a:lnTo>
                  <a:pt x="0" y="5269063"/>
                </a:lnTo>
                <a:lnTo>
                  <a:pt x="0" y="0"/>
                </a:lnTo>
                <a:lnTo>
                  <a:pt x="5104405" y="0"/>
                </a:lnTo>
                <a:lnTo>
                  <a:pt x="5104405" y="52690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49775" y="-2057400"/>
            <a:ext cx="4042791" cy="4114800"/>
          </a:xfrm>
          <a:custGeom>
            <a:avLst/>
            <a:gdLst/>
            <a:ahLst/>
            <a:cxnLst/>
            <a:rect r="r" b="b" t="t" l="l"/>
            <a:pathLst>
              <a:path h="4114800" w="4042791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81831" y="106112"/>
            <a:ext cx="3091592" cy="2929283"/>
          </a:xfrm>
          <a:custGeom>
            <a:avLst/>
            <a:gdLst/>
            <a:ahLst/>
            <a:cxnLst/>
            <a:rect r="r" b="b" t="t" l="l"/>
            <a:pathLst>
              <a:path h="2929283" w="3091592">
                <a:moveTo>
                  <a:pt x="0" y="0"/>
                </a:moveTo>
                <a:lnTo>
                  <a:pt x="3091592" y="0"/>
                </a:lnTo>
                <a:lnTo>
                  <a:pt x="3091592" y="2929283"/>
                </a:lnTo>
                <a:lnTo>
                  <a:pt x="0" y="2929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29564" y="-977995"/>
            <a:ext cx="1663214" cy="1965393"/>
          </a:xfrm>
          <a:custGeom>
            <a:avLst/>
            <a:gdLst/>
            <a:ahLst/>
            <a:cxnLst/>
            <a:rect r="r" b="b" t="t" l="l"/>
            <a:pathLst>
              <a:path h="1965393" w="1663214">
                <a:moveTo>
                  <a:pt x="0" y="0"/>
                </a:moveTo>
                <a:lnTo>
                  <a:pt x="1663214" y="0"/>
                </a:lnTo>
                <a:lnTo>
                  <a:pt x="1663214" y="1965393"/>
                </a:lnTo>
                <a:lnTo>
                  <a:pt x="0" y="19653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192988" y="3297661"/>
            <a:ext cx="13902023" cy="3691678"/>
            <a:chOff x="0" y="0"/>
            <a:chExt cx="18536031" cy="492223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6709"/>
              <a:ext cx="18536031" cy="36389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25"/>
                </a:lnSpc>
              </a:pPr>
              <a:r>
                <a:rPr lang="en-US" sz="10325" b="true">
                  <a:solidFill>
                    <a:srgbClr val="20202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Latent Semantic Analysis SVD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389029" y="3988153"/>
              <a:ext cx="13757973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 spc="84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Royal University</a:t>
              </a:r>
              <a:r>
                <a:rPr lang="en-US" sz="4200" spc="84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of Phnom Penh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818475" y="5127740"/>
            <a:ext cx="3469525" cy="5143500"/>
          </a:xfrm>
          <a:custGeom>
            <a:avLst/>
            <a:gdLst/>
            <a:ahLst/>
            <a:cxnLst/>
            <a:rect r="r" b="b" t="t" l="l"/>
            <a:pathLst>
              <a:path h="5143500" w="3469525">
                <a:moveTo>
                  <a:pt x="0" y="0"/>
                </a:moveTo>
                <a:lnTo>
                  <a:pt x="3469525" y="0"/>
                </a:lnTo>
                <a:lnTo>
                  <a:pt x="346952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984760" y="7650277"/>
            <a:ext cx="103184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 spc="84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Dr. VENG Sotheara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5067" y="3135477"/>
            <a:ext cx="4129503" cy="2803795"/>
          </a:xfrm>
          <a:custGeom>
            <a:avLst/>
            <a:gdLst/>
            <a:ahLst/>
            <a:cxnLst/>
            <a:rect r="r" b="b" t="t" l="l"/>
            <a:pathLst>
              <a:path h="2803795" w="4129503">
                <a:moveTo>
                  <a:pt x="0" y="0"/>
                </a:moveTo>
                <a:lnTo>
                  <a:pt x="4129503" y="0"/>
                </a:lnTo>
                <a:lnTo>
                  <a:pt x="4129503" y="2803794"/>
                </a:lnTo>
                <a:lnTo>
                  <a:pt x="0" y="28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3711" t="-11166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34570" y="2989429"/>
            <a:ext cx="5934570" cy="2945141"/>
          </a:xfrm>
          <a:custGeom>
            <a:avLst/>
            <a:gdLst/>
            <a:ahLst/>
            <a:cxnLst/>
            <a:rect r="r" b="b" t="t" l="l"/>
            <a:pathLst>
              <a:path h="2945141" w="5934570">
                <a:moveTo>
                  <a:pt x="0" y="0"/>
                </a:moveTo>
                <a:lnTo>
                  <a:pt x="5934570" y="0"/>
                </a:lnTo>
                <a:lnTo>
                  <a:pt x="5934570" y="2945141"/>
                </a:lnTo>
                <a:lnTo>
                  <a:pt x="0" y="2945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150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51191" y="3025941"/>
            <a:ext cx="5252448" cy="2908629"/>
          </a:xfrm>
          <a:custGeom>
            <a:avLst/>
            <a:gdLst/>
            <a:ahLst/>
            <a:cxnLst/>
            <a:rect r="r" b="b" t="t" l="l"/>
            <a:pathLst>
              <a:path h="2908629" w="5252448">
                <a:moveTo>
                  <a:pt x="0" y="0"/>
                </a:moveTo>
                <a:lnTo>
                  <a:pt x="5252448" y="0"/>
                </a:lnTo>
                <a:lnTo>
                  <a:pt x="5252448" y="2908629"/>
                </a:lnTo>
                <a:lnTo>
                  <a:pt x="0" y="2908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4033" r="-1298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5995" y="5943973"/>
            <a:ext cx="4339601" cy="1865053"/>
          </a:xfrm>
          <a:custGeom>
            <a:avLst/>
            <a:gdLst/>
            <a:ahLst/>
            <a:cxnLst/>
            <a:rect r="r" b="b" t="t" l="l"/>
            <a:pathLst>
              <a:path h="1865053" w="4339601">
                <a:moveTo>
                  <a:pt x="0" y="0"/>
                </a:moveTo>
                <a:lnTo>
                  <a:pt x="4339600" y="0"/>
                </a:lnTo>
                <a:lnTo>
                  <a:pt x="4339600" y="1865053"/>
                </a:lnTo>
                <a:lnTo>
                  <a:pt x="0" y="1865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753" t="0" r="0" b="-21819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25595" y="5939271"/>
            <a:ext cx="5934570" cy="1760218"/>
          </a:xfrm>
          <a:custGeom>
            <a:avLst/>
            <a:gdLst/>
            <a:ahLst/>
            <a:cxnLst/>
            <a:rect r="r" b="b" t="t" l="l"/>
            <a:pathLst>
              <a:path h="1760218" w="5934570">
                <a:moveTo>
                  <a:pt x="0" y="0"/>
                </a:moveTo>
                <a:lnTo>
                  <a:pt x="5934570" y="0"/>
                </a:lnTo>
                <a:lnTo>
                  <a:pt x="5934570" y="1760219"/>
                </a:lnTo>
                <a:lnTo>
                  <a:pt x="0" y="1760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3714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42216" y="5939271"/>
            <a:ext cx="5297935" cy="1796730"/>
          </a:xfrm>
          <a:custGeom>
            <a:avLst/>
            <a:gdLst/>
            <a:ahLst/>
            <a:cxnLst/>
            <a:rect r="r" b="b" t="t" l="l"/>
            <a:pathLst>
              <a:path h="1796730" w="5297935">
                <a:moveTo>
                  <a:pt x="0" y="0"/>
                </a:moveTo>
                <a:lnTo>
                  <a:pt x="5297935" y="0"/>
                </a:lnTo>
                <a:lnTo>
                  <a:pt x="5297935" y="1796731"/>
                </a:lnTo>
                <a:lnTo>
                  <a:pt x="0" y="179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2016" b="-230298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10227258">
            <a:off x="222885" y="7034055"/>
            <a:ext cx="2833210" cy="2924604"/>
          </a:xfrm>
          <a:custGeom>
            <a:avLst/>
            <a:gdLst/>
            <a:ahLst/>
            <a:cxnLst/>
            <a:rect r="r" b="b" t="t" l="l"/>
            <a:pathLst>
              <a:path h="2924604" w="2833210">
                <a:moveTo>
                  <a:pt x="2833210" y="2924603"/>
                </a:moveTo>
                <a:lnTo>
                  <a:pt x="0" y="2924603"/>
                </a:lnTo>
                <a:lnTo>
                  <a:pt x="0" y="0"/>
                </a:lnTo>
                <a:lnTo>
                  <a:pt x="2833210" y="0"/>
                </a:lnTo>
                <a:lnTo>
                  <a:pt x="2833210" y="292460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82417" y="1781189"/>
            <a:ext cx="682079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Group Members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632832" y="537992"/>
            <a:ext cx="1663214" cy="1965393"/>
          </a:xfrm>
          <a:custGeom>
            <a:avLst/>
            <a:gdLst/>
            <a:ahLst/>
            <a:cxnLst/>
            <a:rect r="r" b="b" t="t" l="l"/>
            <a:pathLst>
              <a:path h="1965393" w="1663214">
                <a:moveTo>
                  <a:pt x="0" y="0"/>
                </a:moveTo>
                <a:lnTo>
                  <a:pt x="1663214" y="0"/>
                </a:lnTo>
                <a:lnTo>
                  <a:pt x="1663214" y="1965393"/>
                </a:lnTo>
                <a:lnTo>
                  <a:pt x="0" y="19653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70251" y="4177109"/>
            <a:ext cx="405601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7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Hor Kimhouy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70251" y="5274838"/>
            <a:ext cx="405601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7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Heng Phanith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3850" y="4177109"/>
            <a:ext cx="405601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7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Huot Rithy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73850" y="5274838"/>
            <a:ext cx="405601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7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Pov Mannkorng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12065" y="4177109"/>
            <a:ext cx="405601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7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Sue Sreyneth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12065" y="5274838"/>
            <a:ext cx="405601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7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Tie Keanghao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95954" y="2125930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03643" y="1982574"/>
            <a:ext cx="4042791" cy="4114800"/>
          </a:xfrm>
          <a:custGeom>
            <a:avLst/>
            <a:gdLst/>
            <a:ahLst/>
            <a:cxnLst/>
            <a:rect r="r" b="b" t="t" l="l"/>
            <a:pathLst>
              <a:path h="4114800" w="4042791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13317" y="1747605"/>
            <a:ext cx="11411722" cy="7075529"/>
            <a:chOff x="0" y="0"/>
            <a:chExt cx="15215629" cy="943403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68942"/>
              <a:ext cx="8215650" cy="6065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9258" indent="-214629" lvl="1">
                <a:lnSpc>
                  <a:spcPts val="3639"/>
                </a:lnSpc>
                <a:buFont typeface="Arial"/>
                <a:buChar char="•"/>
              </a:pPr>
              <a:r>
                <a:rPr lang="en-US" sz="2599" spc="51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Int</a:t>
              </a:r>
              <a:r>
                <a:rPr lang="en-US" sz="2599" spc="51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roduction</a:t>
              </a:r>
            </a:p>
            <a:p>
              <a:pPr algn="l" marL="429258" indent="-214629" lvl="1">
                <a:lnSpc>
                  <a:spcPts val="3639"/>
                </a:lnSpc>
                <a:buFont typeface="Arial"/>
                <a:buChar char="•"/>
              </a:pPr>
              <a:r>
                <a:rPr lang="en-US" sz="2599" spc="51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Dataset</a:t>
              </a:r>
            </a:p>
            <a:p>
              <a:pPr algn="l" marL="429258" indent="-214629" lvl="1">
                <a:lnSpc>
                  <a:spcPts val="3639"/>
                </a:lnSpc>
                <a:buFont typeface="Arial"/>
                <a:buChar char="•"/>
              </a:pPr>
              <a:r>
                <a:rPr lang="en-US" sz="2599" spc="51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Latent Semantic Analysis (LSA)</a:t>
              </a:r>
            </a:p>
            <a:p>
              <a:pPr algn="l" marL="429258" indent="-214629" lvl="1">
                <a:lnSpc>
                  <a:spcPts val="3639"/>
                </a:lnSpc>
                <a:buFont typeface="Arial"/>
                <a:buChar char="•"/>
              </a:pPr>
              <a:r>
                <a:rPr lang="en-US" sz="2599" spc="51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Text Representation (TF-IDF)</a:t>
              </a:r>
            </a:p>
            <a:p>
              <a:pPr algn="l" marL="429258" indent="-214629" lvl="1">
                <a:lnSpc>
                  <a:spcPts val="3639"/>
                </a:lnSpc>
                <a:buFont typeface="Arial"/>
                <a:buChar char="•"/>
              </a:pPr>
              <a:r>
                <a:rPr lang="en-US" sz="2599" spc="51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Core Method: SVD (Singular Value Decomposition)</a:t>
              </a:r>
            </a:p>
            <a:p>
              <a:pPr algn="l" marL="429258" indent="-214629" lvl="1">
                <a:lnSpc>
                  <a:spcPts val="3639"/>
                </a:lnSpc>
                <a:buFont typeface="Arial"/>
                <a:buChar char="•"/>
              </a:pPr>
              <a:r>
                <a:rPr lang="en-US" sz="2599" spc="51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Search Method: Cosine Similarity</a:t>
              </a:r>
            </a:p>
            <a:p>
              <a:pPr algn="l" marL="429258" indent="-214629" lvl="1">
                <a:lnSpc>
                  <a:spcPts val="3639"/>
                </a:lnSpc>
                <a:buFont typeface="Arial"/>
                <a:buChar char="•"/>
              </a:pPr>
              <a:r>
                <a:rPr lang="en-US" sz="2599" spc="51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Results and Analysis</a:t>
              </a:r>
            </a:p>
            <a:p>
              <a:pPr algn="l" marL="429258" indent="-214629" lvl="1">
                <a:lnSpc>
                  <a:spcPts val="3639"/>
                </a:lnSpc>
                <a:buFont typeface="Arial"/>
                <a:buChar char="•"/>
              </a:pPr>
              <a:r>
                <a:rPr lang="en-US" sz="2599" spc="51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Limitations</a:t>
              </a:r>
            </a:p>
            <a:p>
              <a:pPr algn="l">
                <a:lnSpc>
                  <a:spcPts val="3639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7150"/>
              <a:ext cx="15215629" cy="1232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39"/>
                </a:lnSpc>
              </a:pPr>
              <a:r>
                <a:rPr lang="en-US" sz="6399" b="true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Welcome !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844717"/>
              <a:ext cx="9271008" cy="764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9"/>
                </a:lnSpc>
              </a:pPr>
              <a:r>
                <a:rPr lang="en-US" sz="3599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Today's Agenda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6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2938" y="2930431"/>
            <a:ext cx="15238116" cy="3533419"/>
            <a:chOff x="0" y="0"/>
            <a:chExt cx="20317488" cy="471122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57150"/>
              <a:ext cx="20317488" cy="1227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15"/>
                </a:lnSpc>
              </a:pPr>
              <a:r>
                <a:rPr lang="en-US" sz="6377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SVD-B</a:t>
              </a:r>
              <a:r>
                <a:rPr lang="en-US" b="true" sz="6377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</a:t>
              </a:r>
              <a:r>
                <a:rPr lang="en-US" b="true" sz="6377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sed Movie Search Engine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624272" y="1246856"/>
              <a:ext cx="17068945" cy="3464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45"/>
                </a:lnSpc>
              </a:pPr>
            </a:p>
            <a:p>
              <a:pPr algn="l" marL="0" indent="0" lvl="0">
                <a:lnSpc>
                  <a:spcPts val="4145"/>
                </a:lnSpc>
              </a:pPr>
              <a:r>
                <a:rPr lang="en-US" sz="318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Traditional keyword search fails when a query uses </a:t>
              </a:r>
              <a:r>
                <a:rPr lang="en-US" sz="318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different words than a document — even if it means the same thing. </a:t>
              </a:r>
              <a:r>
                <a:rPr lang="en-US" b="true" sz="3188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Latent Semantic Analysis (LSA)</a:t>
              </a:r>
              <a:r>
                <a:rPr lang="en-US" sz="318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solves this by discovering hidden topics in a corpus and matching by topic, not exact term.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86472" y="5681927"/>
            <a:ext cx="4303650" cy="4605073"/>
          </a:xfrm>
          <a:custGeom>
            <a:avLst/>
            <a:gdLst/>
            <a:ahLst/>
            <a:cxnLst/>
            <a:rect r="r" b="b" t="t" l="l"/>
            <a:pathLst>
              <a:path h="4605073" w="4303650">
                <a:moveTo>
                  <a:pt x="0" y="0"/>
                </a:moveTo>
                <a:lnTo>
                  <a:pt x="4303650" y="0"/>
                </a:lnTo>
                <a:lnTo>
                  <a:pt x="4303650" y="4605073"/>
                </a:lnTo>
                <a:lnTo>
                  <a:pt x="0" y="4605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FFC0C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1.  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FFC0C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FFC0C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6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86472" y="5681927"/>
            <a:ext cx="4303650" cy="4605073"/>
          </a:xfrm>
          <a:custGeom>
            <a:avLst/>
            <a:gdLst/>
            <a:ahLst/>
            <a:cxnLst/>
            <a:rect r="r" b="b" t="t" l="l"/>
            <a:pathLst>
              <a:path h="4605073" w="4303650">
                <a:moveTo>
                  <a:pt x="0" y="0"/>
                </a:moveTo>
                <a:lnTo>
                  <a:pt x="4303650" y="0"/>
                </a:lnTo>
                <a:lnTo>
                  <a:pt x="4303650" y="4605073"/>
                </a:lnTo>
                <a:lnTo>
                  <a:pt x="0" y="4605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FFC0C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1.  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FFC0C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FFC0C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grpSp>
        <p:nvGrpSpPr>
          <p:cNvPr name="Group 5" id="5"/>
          <p:cNvGrpSpPr/>
          <p:nvPr/>
        </p:nvGrpSpPr>
        <p:grpSpPr>
          <a:xfrm rot="-5383136">
            <a:off x="7202248" y="5491322"/>
            <a:ext cx="3944543" cy="627224"/>
            <a:chOff x="0" y="0"/>
            <a:chExt cx="3594100" cy="571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5270"/>
              <a:ext cx="3594100" cy="69850"/>
            </a:xfrm>
            <a:custGeom>
              <a:avLst/>
              <a:gdLst/>
              <a:ahLst/>
              <a:cxnLst/>
              <a:rect r="r" b="b" t="t" l="l"/>
              <a:pathLst>
                <a:path h="69850" w="359410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F5F5E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95350" y="4311414"/>
            <a:ext cx="7955887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4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Query: "sp</a:t>
            </a:r>
            <a:r>
              <a:rPr lang="en-US" sz="2400" spc="4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ecter haunting mansion"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4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Document: "A ghost keeps returning to the old house"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4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Keyword match: 0 matches (different words)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4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LSA match: high similarity (same latent horror topic)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75354" y="4311414"/>
            <a:ext cx="6161738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4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Corpus: CoreNLP POS-filtered lemmas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4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Vectorize: TF-IDF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4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Reduce: Truncated SVD (k=150</a:t>
            </a:r>
            <a:r>
              <a:rPr lang="en-US" sz="2400" i="true" spc="48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k</a:t>
            </a:r>
            <a:r>
              <a:rPr lang="en-US" sz="2400" spc="4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=150)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4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Retrieve: Cosine similarity in latent space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3324" y="3103961"/>
            <a:ext cx="5722869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15908" y="3103961"/>
            <a:ext cx="5722869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Solution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717799" y="-351686"/>
            <a:ext cx="11901603" cy="10990371"/>
          </a:xfrm>
          <a:prstGeom prst="rect">
            <a:avLst/>
          </a:prstGeom>
          <a:solidFill>
            <a:srgbClr val="F46E16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-156122" y="-1053349"/>
            <a:ext cx="6892972" cy="13766894"/>
            <a:chOff x="0" y="0"/>
            <a:chExt cx="9190629" cy="18355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9165229"/>
              <a:ext cx="9190629" cy="9190629"/>
            </a:xfrm>
            <a:custGeom>
              <a:avLst/>
              <a:gdLst/>
              <a:ahLst/>
              <a:cxnLst/>
              <a:rect r="r" b="b" t="t" l="l"/>
              <a:pathLst>
                <a:path h="9190629" w="9190629">
                  <a:moveTo>
                    <a:pt x="0" y="0"/>
                  </a:moveTo>
                  <a:lnTo>
                    <a:pt x="9190629" y="0"/>
                  </a:lnTo>
                  <a:lnTo>
                    <a:pt x="9190629" y="9190629"/>
                  </a:lnTo>
                  <a:lnTo>
                    <a:pt x="0" y="9190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90629" cy="9190629"/>
            </a:xfrm>
            <a:custGeom>
              <a:avLst/>
              <a:gdLst/>
              <a:ahLst/>
              <a:cxnLst/>
              <a:rect r="r" b="b" t="t" l="l"/>
              <a:pathLst>
                <a:path h="9190629" w="9190629">
                  <a:moveTo>
                    <a:pt x="0" y="0"/>
                  </a:moveTo>
                  <a:lnTo>
                    <a:pt x="9190629" y="0"/>
                  </a:lnTo>
                  <a:lnTo>
                    <a:pt x="9190629" y="9190629"/>
                  </a:lnTo>
                  <a:lnTo>
                    <a:pt x="0" y="9190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1438417" y="8114769"/>
            <a:ext cx="3621038" cy="3621038"/>
            <a:chOff x="0" y="0"/>
            <a:chExt cx="1708150" cy="1708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</p:spPr>
        </p:sp>
      </p:grpSp>
      <p:graphicFrame>
        <p:nvGraphicFramePr>
          <p:cNvPr name="Object 8" id="8"/>
          <p:cNvGraphicFramePr/>
          <p:nvPr/>
        </p:nvGraphicFramePr>
        <p:xfrm>
          <a:off x="7854185" y="6033950"/>
          <a:ext cx="11315700" cy="628650"/>
        </p:xfrm>
        <a:graphic>
          <a:graphicData uri="http://schemas.openxmlformats.org/presentationml/2006/ole">
            <p:oleObj imgW="13576300" imgH="28956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7854185" y="1818570"/>
            <a:ext cx="8549035" cy="2058780"/>
            <a:chOff x="0" y="0"/>
            <a:chExt cx="11398714" cy="274504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72400"/>
              <a:ext cx="11398714" cy="207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spc="3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CMU</a:t>
              </a:r>
              <a:r>
                <a:rPr lang="en-US" sz="1800" spc="3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MovieSummaries (42 k movies joined from metadata + plot summaries) annotated with **Stanford CoreNLP** — the largest freely available lemmatized movie corpus.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1800" spc="36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Reference: http://www.cs.cmu.edu/~ark/personas/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8100"/>
              <a:ext cx="11398714" cy="466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5"/>
                </a:lnSpc>
              </a:pPr>
              <a:r>
                <a:rPr lang="en-US" b="true" sz="2525">
                  <a:solidFill>
                    <a:srgbClr val="D9D9D9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Source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54185" y="3949429"/>
            <a:ext cx="8549035" cy="1430130"/>
            <a:chOff x="0" y="0"/>
            <a:chExt cx="11398714" cy="190684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672400"/>
              <a:ext cx="11398714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spc="36">
                  <a:solidFill>
                    <a:srgbClr val="F5F5E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This Dataset contains key information including but not limit too: </a:t>
              </a:r>
            </a:p>
            <a:p>
              <a:pPr algn="l">
                <a:lnSpc>
                  <a:spcPts val="2520"/>
                </a:lnSpc>
              </a:pPr>
              <a:r>
                <a:rPr lang="en-US" sz="1800" spc="36" b="true">
                  <a:solidFill>
                    <a:srgbClr val="F5F5E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wiki_id, title, plot, genre, year</a:t>
              </a:r>
            </a:p>
            <a:p>
              <a:pPr algn="l">
                <a:lnSpc>
                  <a:spcPts val="2520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8100"/>
              <a:ext cx="11398714" cy="466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5"/>
                </a:lnSpc>
              </a:pPr>
              <a:r>
                <a:rPr lang="en-US" b="true" sz="2525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Schema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854185" y="5489738"/>
            <a:ext cx="8549035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5"/>
              </a:lnSpc>
            </a:pPr>
            <a:r>
              <a:rPr lang="en-US" b="true" sz="252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82621" y="4164172"/>
            <a:ext cx="4350190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299707" y="5143500"/>
            <a:ext cx="2837121" cy="2341914"/>
          </a:xfrm>
          <a:custGeom>
            <a:avLst/>
            <a:gdLst/>
            <a:ahLst/>
            <a:cxnLst/>
            <a:rect r="r" b="b" t="t" l="l"/>
            <a:pathLst>
              <a:path h="2341914" w="2837121">
                <a:moveTo>
                  <a:pt x="0" y="0"/>
                </a:moveTo>
                <a:lnTo>
                  <a:pt x="2837121" y="0"/>
                </a:lnTo>
                <a:lnTo>
                  <a:pt x="2837121" y="2341914"/>
                </a:lnTo>
                <a:lnTo>
                  <a:pt x="0" y="2341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 DATASET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04260" y="7052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95285" y="5946324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440722"/>
            <a:ext cx="7315200" cy="2846278"/>
          </a:xfrm>
          <a:custGeom>
            <a:avLst/>
            <a:gdLst/>
            <a:ahLst/>
            <a:cxnLst/>
            <a:rect r="r" b="b" t="t" l="l"/>
            <a:pathLst>
              <a:path h="2846278" w="7315200">
                <a:moveTo>
                  <a:pt x="0" y="0"/>
                </a:moveTo>
                <a:lnTo>
                  <a:pt x="7315200" y="0"/>
                </a:lnTo>
                <a:lnTo>
                  <a:pt x="7315200" y="2846278"/>
                </a:lnTo>
                <a:lnTo>
                  <a:pt x="0" y="2846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74077" y="2636259"/>
            <a:ext cx="1760492" cy="2860829"/>
          </a:xfrm>
          <a:custGeom>
            <a:avLst/>
            <a:gdLst/>
            <a:ahLst/>
            <a:cxnLst/>
            <a:rect r="r" b="b" t="t" l="l"/>
            <a:pathLst>
              <a:path h="2860829" w="1760492">
                <a:moveTo>
                  <a:pt x="0" y="0"/>
                </a:moveTo>
                <a:lnTo>
                  <a:pt x="1760493" y="0"/>
                </a:lnTo>
                <a:lnTo>
                  <a:pt x="1760493" y="2860830"/>
                </a:lnTo>
                <a:lnTo>
                  <a:pt x="0" y="2860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7097" t="-91985" r="0" b="-1545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19877" y="2544949"/>
            <a:ext cx="5888684" cy="2992859"/>
          </a:xfrm>
          <a:custGeom>
            <a:avLst/>
            <a:gdLst/>
            <a:ahLst/>
            <a:cxnLst/>
            <a:rect r="r" b="b" t="t" l="l"/>
            <a:pathLst>
              <a:path h="2992859" w="5888684">
                <a:moveTo>
                  <a:pt x="0" y="0"/>
                </a:moveTo>
                <a:lnTo>
                  <a:pt x="5888684" y="0"/>
                </a:lnTo>
                <a:lnTo>
                  <a:pt x="5888684" y="2992859"/>
                </a:lnTo>
                <a:lnTo>
                  <a:pt x="0" y="2992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034" r="-1028" b="-1374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51191" y="2596053"/>
            <a:ext cx="1828442" cy="2894450"/>
          </a:xfrm>
          <a:custGeom>
            <a:avLst/>
            <a:gdLst/>
            <a:ahLst/>
            <a:cxnLst/>
            <a:rect r="r" b="b" t="t" l="l"/>
            <a:pathLst>
              <a:path h="2894450" w="1828442">
                <a:moveTo>
                  <a:pt x="0" y="0"/>
                </a:moveTo>
                <a:lnTo>
                  <a:pt x="1828442" y="0"/>
                </a:lnTo>
                <a:lnTo>
                  <a:pt x="1828442" y="2894450"/>
                </a:lnTo>
                <a:lnTo>
                  <a:pt x="0" y="289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9690" r="-224569" b="-1534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08103" y="4830277"/>
            <a:ext cx="9712233" cy="4224821"/>
          </a:xfrm>
          <a:custGeom>
            <a:avLst/>
            <a:gdLst/>
            <a:ahLst/>
            <a:cxnLst/>
            <a:rect r="r" b="b" t="t" l="l"/>
            <a:pathLst>
              <a:path h="4224821" w="9712233">
                <a:moveTo>
                  <a:pt x="0" y="0"/>
                </a:moveTo>
                <a:lnTo>
                  <a:pt x="9712233" y="0"/>
                </a:lnTo>
                <a:lnTo>
                  <a:pt x="9712233" y="4224821"/>
                </a:lnTo>
                <a:lnTo>
                  <a:pt x="0" y="42248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394188" y="3370510"/>
            <a:ext cx="10940062" cy="2919534"/>
            <a:chOff x="0" y="0"/>
            <a:chExt cx="14586750" cy="389271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3185109"/>
              <a:ext cx="14586750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728545"/>
              <a:ext cx="14586750" cy="578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5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7150"/>
              <a:ext cx="14586750" cy="1232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9"/>
                </a:lnSpc>
              </a:pPr>
              <a:r>
                <a:rPr lang="en-US" sz="6399" b="true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Why this Dataset ?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 DATASET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04260" y="7052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95285" y="5946324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440722"/>
            <a:ext cx="7315200" cy="2846278"/>
          </a:xfrm>
          <a:custGeom>
            <a:avLst/>
            <a:gdLst/>
            <a:ahLst/>
            <a:cxnLst/>
            <a:rect r="r" b="b" t="t" l="l"/>
            <a:pathLst>
              <a:path h="2846278" w="7315200">
                <a:moveTo>
                  <a:pt x="0" y="0"/>
                </a:moveTo>
                <a:lnTo>
                  <a:pt x="7315200" y="0"/>
                </a:lnTo>
                <a:lnTo>
                  <a:pt x="7315200" y="2846278"/>
                </a:lnTo>
                <a:lnTo>
                  <a:pt x="0" y="2846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74077" y="2636259"/>
            <a:ext cx="1760492" cy="2860829"/>
          </a:xfrm>
          <a:custGeom>
            <a:avLst/>
            <a:gdLst/>
            <a:ahLst/>
            <a:cxnLst/>
            <a:rect r="r" b="b" t="t" l="l"/>
            <a:pathLst>
              <a:path h="2860829" w="1760492">
                <a:moveTo>
                  <a:pt x="0" y="0"/>
                </a:moveTo>
                <a:lnTo>
                  <a:pt x="1760493" y="0"/>
                </a:lnTo>
                <a:lnTo>
                  <a:pt x="1760493" y="2860830"/>
                </a:lnTo>
                <a:lnTo>
                  <a:pt x="0" y="2860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7097" t="-91985" r="0" b="-1545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19877" y="2544949"/>
            <a:ext cx="5888684" cy="2992859"/>
          </a:xfrm>
          <a:custGeom>
            <a:avLst/>
            <a:gdLst/>
            <a:ahLst/>
            <a:cxnLst/>
            <a:rect r="r" b="b" t="t" l="l"/>
            <a:pathLst>
              <a:path h="2992859" w="5888684">
                <a:moveTo>
                  <a:pt x="0" y="0"/>
                </a:moveTo>
                <a:lnTo>
                  <a:pt x="5888684" y="0"/>
                </a:lnTo>
                <a:lnTo>
                  <a:pt x="5888684" y="2992859"/>
                </a:lnTo>
                <a:lnTo>
                  <a:pt x="0" y="2992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034" r="-1028" b="-1374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51191" y="2596053"/>
            <a:ext cx="1828442" cy="2894450"/>
          </a:xfrm>
          <a:custGeom>
            <a:avLst/>
            <a:gdLst/>
            <a:ahLst/>
            <a:cxnLst/>
            <a:rect r="r" b="b" t="t" l="l"/>
            <a:pathLst>
              <a:path h="2894450" w="1828442">
                <a:moveTo>
                  <a:pt x="0" y="0"/>
                </a:moveTo>
                <a:lnTo>
                  <a:pt x="1828442" y="0"/>
                </a:lnTo>
                <a:lnTo>
                  <a:pt x="1828442" y="2894450"/>
                </a:lnTo>
                <a:lnTo>
                  <a:pt x="0" y="289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9690" r="-224569" b="-1534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8884" y="2041005"/>
            <a:ext cx="15910231" cy="6204990"/>
          </a:xfrm>
          <a:custGeom>
            <a:avLst/>
            <a:gdLst/>
            <a:ahLst/>
            <a:cxnLst/>
            <a:rect r="r" b="b" t="t" l="l"/>
            <a:pathLst>
              <a:path h="6204990" w="15910231">
                <a:moveTo>
                  <a:pt x="0" y="0"/>
                </a:moveTo>
                <a:lnTo>
                  <a:pt x="15910232" y="0"/>
                </a:lnTo>
                <a:lnTo>
                  <a:pt x="15910232" y="6204990"/>
                </a:lnTo>
                <a:lnTo>
                  <a:pt x="0" y="62049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 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04260" y="7052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95285" y="5946324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440722"/>
            <a:ext cx="7315200" cy="2846278"/>
          </a:xfrm>
          <a:custGeom>
            <a:avLst/>
            <a:gdLst/>
            <a:ahLst/>
            <a:cxnLst/>
            <a:rect r="r" b="b" t="t" l="l"/>
            <a:pathLst>
              <a:path h="2846278" w="7315200">
                <a:moveTo>
                  <a:pt x="0" y="0"/>
                </a:moveTo>
                <a:lnTo>
                  <a:pt x="7315200" y="0"/>
                </a:lnTo>
                <a:lnTo>
                  <a:pt x="7315200" y="2846278"/>
                </a:lnTo>
                <a:lnTo>
                  <a:pt x="0" y="2846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74077" y="2636259"/>
            <a:ext cx="1760492" cy="2860829"/>
          </a:xfrm>
          <a:custGeom>
            <a:avLst/>
            <a:gdLst/>
            <a:ahLst/>
            <a:cxnLst/>
            <a:rect r="r" b="b" t="t" l="l"/>
            <a:pathLst>
              <a:path h="2860829" w="1760492">
                <a:moveTo>
                  <a:pt x="0" y="0"/>
                </a:moveTo>
                <a:lnTo>
                  <a:pt x="1760493" y="0"/>
                </a:lnTo>
                <a:lnTo>
                  <a:pt x="1760493" y="2860830"/>
                </a:lnTo>
                <a:lnTo>
                  <a:pt x="0" y="2860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7097" t="-91985" r="0" b="-1545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19877" y="2544949"/>
            <a:ext cx="5888684" cy="2992859"/>
          </a:xfrm>
          <a:custGeom>
            <a:avLst/>
            <a:gdLst/>
            <a:ahLst/>
            <a:cxnLst/>
            <a:rect r="r" b="b" t="t" l="l"/>
            <a:pathLst>
              <a:path h="2992859" w="5888684">
                <a:moveTo>
                  <a:pt x="0" y="0"/>
                </a:moveTo>
                <a:lnTo>
                  <a:pt x="5888684" y="0"/>
                </a:lnTo>
                <a:lnTo>
                  <a:pt x="5888684" y="2992859"/>
                </a:lnTo>
                <a:lnTo>
                  <a:pt x="0" y="2992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034" r="-1028" b="-1374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51191" y="2596053"/>
            <a:ext cx="1828442" cy="2894450"/>
          </a:xfrm>
          <a:custGeom>
            <a:avLst/>
            <a:gdLst/>
            <a:ahLst/>
            <a:cxnLst/>
            <a:rect r="r" b="b" t="t" l="l"/>
            <a:pathLst>
              <a:path h="2894450" w="1828442">
                <a:moveTo>
                  <a:pt x="0" y="0"/>
                </a:moveTo>
                <a:lnTo>
                  <a:pt x="1828442" y="0"/>
                </a:lnTo>
                <a:lnTo>
                  <a:pt x="1828442" y="2894450"/>
                </a:lnTo>
                <a:lnTo>
                  <a:pt x="0" y="289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9690" r="-224569" b="-1534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29128" y="5537808"/>
            <a:ext cx="8434722" cy="4280621"/>
          </a:xfrm>
          <a:custGeom>
            <a:avLst/>
            <a:gdLst/>
            <a:ahLst/>
            <a:cxnLst/>
            <a:rect r="r" b="b" t="t" l="l"/>
            <a:pathLst>
              <a:path h="4280621" w="8434722">
                <a:moveTo>
                  <a:pt x="0" y="0"/>
                </a:moveTo>
                <a:lnTo>
                  <a:pt x="8434722" y="0"/>
                </a:lnTo>
                <a:lnTo>
                  <a:pt x="8434722" y="4280621"/>
                </a:lnTo>
                <a:lnTo>
                  <a:pt x="0" y="4280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54393" y="1281938"/>
            <a:ext cx="7961207" cy="4040312"/>
          </a:xfrm>
          <a:custGeom>
            <a:avLst/>
            <a:gdLst/>
            <a:ahLst/>
            <a:cxnLst/>
            <a:rect r="r" b="b" t="t" l="l"/>
            <a:pathLst>
              <a:path h="4040312" w="7961207">
                <a:moveTo>
                  <a:pt x="0" y="0"/>
                </a:moveTo>
                <a:lnTo>
                  <a:pt x="7961207" y="0"/>
                </a:lnTo>
                <a:lnTo>
                  <a:pt x="7961207" y="4040312"/>
                </a:lnTo>
                <a:lnTo>
                  <a:pt x="0" y="40403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 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04260" y="7052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95285" y="5946324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440722"/>
            <a:ext cx="7315200" cy="2846278"/>
          </a:xfrm>
          <a:custGeom>
            <a:avLst/>
            <a:gdLst/>
            <a:ahLst/>
            <a:cxnLst/>
            <a:rect r="r" b="b" t="t" l="l"/>
            <a:pathLst>
              <a:path h="2846278" w="7315200">
                <a:moveTo>
                  <a:pt x="0" y="0"/>
                </a:moveTo>
                <a:lnTo>
                  <a:pt x="7315200" y="0"/>
                </a:lnTo>
                <a:lnTo>
                  <a:pt x="7315200" y="2846278"/>
                </a:lnTo>
                <a:lnTo>
                  <a:pt x="0" y="2846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74077" y="2636259"/>
            <a:ext cx="1760492" cy="2860829"/>
          </a:xfrm>
          <a:custGeom>
            <a:avLst/>
            <a:gdLst/>
            <a:ahLst/>
            <a:cxnLst/>
            <a:rect r="r" b="b" t="t" l="l"/>
            <a:pathLst>
              <a:path h="2860829" w="1760492">
                <a:moveTo>
                  <a:pt x="0" y="0"/>
                </a:moveTo>
                <a:lnTo>
                  <a:pt x="1760493" y="0"/>
                </a:lnTo>
                <a:lnTo>
                  <a:pt x="1760493" y="2860830"/>
                </a:lnTo>
                <a:lnTo>
                  <a:pt x="0" y="2860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7097" t="-91985" r="0" b="-1545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19877" y="2544949"/>
            <a:ext cx="5888684" cy="2992859"/>
          </a:xfrm>
          <a:custGeom>
            <a:avLst/>
            <a:gdLst/>
            <a:ahLst/>
            <a:cxnLst/>
            <a:rect r="r" b="b" t="t" l="l"/>
            <a:pathLst>
              <a:path h="2992859" w="5888684">
                <a:moveTo>
                  <a:pt x="0" y="0"/>
                </a:moveTo>
                <a:lnTo>
                  <a:pt x="5888684" y="0"/>
                </a:lnTo>
                <a:lnTo>
                  <a:pt x="5888684" y="2992859"/>
                </a:lnTo>
                <a:lnTo>
                  <a:pt x="0" y="2992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034" r="-1028" b="-1374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51191" y="2596053"/>
            <a:ext cx="1828442" cy="2894450"/>
          </a:xfrm>
          <a:custGeom>
            <a:avLst/>
            <a:gdLst/>
            <a:ahLst/>
            <a:cxnLst/>
            <a:rect r="r" b="b" t="t" l="l"/>
            <a:pathLst>
              <a:path h="2894450" w="1828442">
                <a:moveTo>
                  <a:pt x="0" y="0"/>
                </a:moveTo>
                <a:lnTo>
                  <a:pt x="1828442" y="0"/>
                </a:lnTo>
                <a:lnTo>
                  <a:pt x="1828442" y="2894450"/>
                </a:lnTo>
                <a:lnTo>
                  <a:pt x="0" y="289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9690" r="-224569" b="-1534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2361" y="1927484"/>
            <a:ext cx="15683277" cy="4018840"/>
          </a:xfrm>
          <a:custGeom>
            <a:avLst/>
            <a:gdLst/>
            <a:ahLst/>
            <a:cxnLst/>
            <a:rect r="r" b="b" t="t" l="l"/>
            <a:pathLst>
              <a:path h="4018840" w="15683277">
                <a:moveTo>
                  <a:pt x="0" y="0"/>
                </a:moveTo>
                <a:lnTo>
                  <a:pt x="15683278" y="0"/>
                </a:lnTo>
                <a:lnTo>
                  <a:pt x="15683278" y="4018840"/>
                </a:lnTo>
                <a:lnTo>
                  <a:pt x="0" y="40188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 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71117"/>
            <a:ext cx="10198385" cy="12262344"/>
          </a:xfrm>
          <a:custGeom>
            <a:avLst/>
            <a:gdLst/>
            <a:ahLst/>
            <a:cxnLst/>
            <a:rect r="r" b="b" t="t" l="l"/>
            <a:pathLst>
              <a:path h="12262344" w="10198385">
                <a:moveTo>
                  <a:pt x="0" y="0"/>
                </a:moveTo>
                <a:lnTo>
                  <a:pt x="10198385" y="0"/>
                </a:lnTo>
                <a:lnTo>
                  <a:pt x="10198385" y="12262344"/>
                </a:lnTo>
                <a:lnTo>
                  <a:pt x="0" y="12262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81" t="-2505" r="0" b="-100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1270" y="2492770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75495" y="2395438"/>
            <a:ext cx="3165421" cy="6031902"/>
            <a:chOff x="0" y="0"/>
            <a:chExt cx="1623702" cy="3094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3702" cy="3094062"/>
            </a:xfrm>
            <a:custGeom>
              <a:avLst/>
              <a:gdLst/>
              <a:ahLst/>
              <a:cxnLst/>
              <a:rect r="r" b="b" t="t" l="l"/>
              <a:pathLst>
                <a:path h="3094062" w="1623702">
                  <a:moveTo>
                    <a:pt x="0" y="0"/>
                  </a:moveTo>
                  <a:lnTo>
                    <a:pt x="1623702" y="0"/>
                  </a:lnTo>
                  <a:lnTo>
                    <a:pt x="1623702" y="3094062"/>
                  </a:lnTo>
                  <a:lnTo>
                    <a:pt x="0" y="3094062"/>
                  </a:lnTo>
                  <a:close/>
                </a:path>
              </a:pathLst>
            </a:custGeom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018182" y="3353989"/>
            <a:ext cx="3845468" cy="4114800"/>
          </a:xfrm>
          <a:custGeom>
            <a:avLst/>
            <a:gdLst/>
            <a:ahLst/>
            <a:cxnLst/>
            <a:rect r="r" b="b" t="t" l="l"/>
            <a:pathLst>
              <a:path h="4114800" w="3845468">
                <a:moveTo>
                  <a:pt x="0" y="0"/>
                </a:moveTo>
                <a:lnTo>
                  <a:pt x="3845468" y="0"/>
                </a:lnTo>
                <a:lnTo>
                  <a:pt x="3845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822608" y="4879661"/>
          <a:ext cx="3771900" cy="2514600"/>
        </p:xfrm>
        <a:graphic>
          <a:graphicData uri="http://schemas.openxmlformats.org/presentationml/2006/ole">
            <p:oleObj imgW="4521200" imgH="32639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822608" y="2108196"/>
            <a:ext cx="9000188" cy="2225357"/>
            <a:chOff x="0" y="0"/>
            <a:chExt cx="12000250" cy="296714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8575"/>
              <a:ext cx="11536017" cy="189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0"/>
                </a:lnSpc>
              </a:pPr>
            </a:p>
            <a:p>
              <a:pPr algn="l">
                <a:lnSpc>
                  <a:spcPts val="3740"/>
                </a:lnSpc>
              </a:pPr>
              <a:r>
                <a:rPr lang="en-US" sz="3400" spc="-17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</a:t>
              </a:r>
              <a:r>
                <a:rPr lang="en-US" sz="3400" spc="-17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 Core Idea</a:t>
              </a:r>
            </a:p>
            <a:p>
              <a:pPr algn="l">
                <a:lnSpc>
                  <a:spcPts val="3740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010621"/>
              <a:ext cx="1200025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0"/>
                </a:lnSpc>
              </a:pPr>
              <a:r>
                <a:rPr lang="en-US" sz="22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Words that appear in similar documents tend to have similar meanings — even if they are spelled differently.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3. LATENT SEMANTIC ANALYSIS (LSA)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608" y="7902270"/>
            <a:ext cx="8125738" cy="115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LSA learns these relationships </a:t>
            </a:r>
            <a:r>
              <a:rPr lang="en-US" sz="2200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automatically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from co-occurrence patterns, with no hand-crafted rules or dictionaries.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71117"/>
            <a:ext cx="10198385" cy="12262344"/>
          </a:xfrm>
          <a:custGeom>
            <a:avLst/>
            <a:gdLst/>
            <a:ahLst/>
            <a:cxnLst/>
            <a:rect r="r" b="b" t="t" l="l"/>
            <a:pathLst>
              <a:path h="12262344" w="10198385">
                <a:moveTo>
                  <a:pt x="0" y="0"/>
                </a:moveTo>
                <a:lnTo>
                  <a:pt x="10198385" y="0"/>
                </a:lnTo>
                <a:lnTo>
                  <a:pt x="10198385" y="12262344"/>
                </a:lnTo>
                <a:lnTo>
                  <a:pt x="0" y="12262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81" t="-2505" r="0" b="-100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1270" y="2492770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75495" y="2395438"/>
            <a:ext cx="3165421" cy="6031902"/>
            <a:chOff x="0" y="0"/>
            <a:chExt cx="1623702" cy="3094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3702" cy="3094062"/>
            </a:xfrm>
            <a:custGeom>
              <a:avLst/>
              <a:gdLst/>
              <a:ahLst/>
              <a:cxnLst/>
              <a:rect r="r" b="b" t="t" l="l"/>
              <a:pathLst>
                <a:path h="3094062" w="1623702">
                  <a:moveTo>
                    <a:pt x="0" y="0"/>
                  </a:moveTo>
                  <a:lnTo>
                    <a:pt x="1623702" y="0"/>
                  </a:lnTo>
                  <a:lnTo>
                    <a:pt x="1623702" y="3094062"/>
                  </a:lnTo>
                  <a:lnTo>
                    <a:pt x="0" y="3094062"/>
                  </a:lnTo>
                  <a:close/>
                </a:path>
              </a:pathLst>
            </a:custGeom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018182" y="3353989"/>
            <a:ext cx="3845468" cy="4114800"/>
          </a:xfrm>
          <a:custGeom>
            <a:avLst/>
            <a:gdLst/>
            <a:ahLst/>
            <a:cxnLst/>
            <a:rect r="r" b="b" t="t" l="l"/>
            <a:pathLst>
              <a:path h="4114800" w="3845468">
                <a:moveTo>
                  <a:pt x="0" y="0"/>
                </a:moveTo>
                <a:lnTo>
                  <a:pt x="3845468" y="0"/>
                </a:lnTo>
                <a:lnTo>
                  <a:pt x="3845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45019" y="2918143"/>
            <a:ext cx="9000188" cy="2225357"/>
            <a:chOff x="0" y="0"/>
            <a:chExt cx="12000250" cy="296714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8575"/>
              <a:ext cx="11536017" cy="189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0"/>
                </a:lnSpc>
              </a:pPr>
            </a:p>
            <a:p>
              <a:pPr algn="l">
                <a:lnSpc>
                  <a:spcPts val="3740"/>
                </a:lnSpc>
              </a:pPr>
              <a:r>
                <a:rPr lang="en-US" sz="3400" spc="-17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</a:t>
              </a:r>
              <a:r>
                <a:rPr lang="en-US" sz="3400" spc="-17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ey Capability: Vocabulary Mismatch</a:t>
              </a:r>
            </a:p>
            <a:p>
              <a:pPr algn="l">
                <a:lnSpc>
                  <a:spcPts val="3740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010621"/>
              <a:ext cx="1200025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0"/>
                </a:lnSpc>
              </a:pPr>
              <a:r>
                <a:rPr lang="en-US" sz="22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Query:    "specter haunting mansion"</a:t>
              </a:r>
            </a:p>
            <a:p>
              <a:pPr algn="l">
                <a:lnSpc>
                  <a:spcPts val="2860"/>
                </a:lnSpc>
              </a:pPr>
              <a:r>
                <a:rPr lang="en-US" sz="22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Document: "ghost returns to old house"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3. LATENT SEMANTIC ANALYSIS (LSA)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9099" y="5863920"/>
            <a:ext cx="9000188" cy="271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Keyword search: 0 matching words → no result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LSA: both query and document project onto the same horror latent dimension → high c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sine si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rit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→ correct match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is the fundamental advantage of LSA over keyword search.</a:t>
            </a:r>
          </a:p>
          <a:p>
            <a:pPr algn="l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702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69"/>
                </a:lnTo>
                <a:lnTo>
                  <a:pt x="0" y="59345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34570" y="0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51191" y="0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69" y="0"/>
                </a:lnTo>
                <a:lnTo>
                  <a:pt x="5934569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85760" y="0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0">
            <a:off x="-309319" y="4015991"/>
            <a:ext cx="18906637" cy="6565419"/>
          </a:xfrm>
          <a:prstGeom prst="rect">
            <a:avLst/>
          </a:prstGeom>
          <a:solidFill>
            <a:srgbClr val="B866CD"/>
          </a:solidFill>
        </p:spPr>
      </p:sp>
      <p:graphicFrame>
        <p:nvGraphicFramePr>
          <p:cNvPr name="Object 7" id="7"/>
          <p:cNvGraphicFramePr/>
          <p:nvPr/>
        </p:nvGraphicFramePr>
        <p:xfrm>
          <a:off x="3626644" y="6210300"/>
          <a:ext cx="5657850" cy="2514600"/>
        </p:xfrm>
        <a:graphic>
          <a:graphicData uri="http://schemas.openxmlformats.org/presentationml/2006/ole">
            <p:oleObj imgW="6781800" imgH="3644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936591" y="2244933"/>
            <a:ext cx="15930527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6399" spc="-3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a L</a:t>
            </a:r>
            <a:r>
              <a:rPr lang="en-US" b="true" sz="6399" spc="-3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emmatized Corpus?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7794" y="5094095"/>
            <a:ext cx="15795262" cy="930753"/>
            <a:chOff x="0" y="0"/>
            <a:chExt cx="21060349" cy="124100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38100"/>
              <a:ext cx="21060349" cy="466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5"/>
                </a:lnSpc>
              </a:pPr>
              <a:r>
                <a:rPr lang="en-US" b="true" sz="2525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Before f</a:t>
              </a:r>
              <a:r>
                <a:rPr lang="en-US" b="true" sz="2525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eeding text to LSA, we lemmatize it — reducing each word to its canonical base form: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176971" y="839325"/>
              <a:ext cx="18706408" cy="401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827495"/>
            <a:ext cx="5195888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3. LATENT SEMANTIC ANALYSIS (LSA)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702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69"/>
                </a:lnTo>
                <a:lnTo>
                  <a:pt x="0" y="59345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34570" y="0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51191" y="0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69" y="0"/>
                </a:lnTo>
                <a:lnTo>
                  <a:pt x="5934569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85760" y="0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0">
            <a:off x="-309319" y="4015991"/>
            <a:ext cx="18906637" cy="6565419"/>
          </a:xfrm>
          <a:prstGeom prst="rect">
            <a:avLst/>
          </a:prstGeom>
          <a:solidFill>
            <a:srgbClr val="B866C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936591" y="2244933"/>
            <a:ext cx="15930527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6399" spc="-3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a L</a:t>
            </a:r>
            <a:r>
              <a:rPr lang="en-US" b="true" sz="6399" spc="-3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emmatized Corpus?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17794" y="4930297"/>
            <a:ext cx="15795262" cy="1222853"/>
            <a:chOff x="0" y="0"/>
            <a:chExt cx="21060349" cy="163047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8575"/>
              <a:ext cx="21060349" cy="865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b="true" sz="240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We also POS-filter — k</a:t>
              </a:r>
              <a:r>
                <a:rPr lang="en-US" b="true" sz="240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eeping only nouns, verbs, and adjectives. Prepositions, articles, and conjunctions appear in every document and provide no discriminating signal.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176971" y="1228791"/>
              <a:ext cx="18706408" cy="401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827495"/>
            <a:ext cx="5195888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3. LATENT SEMANTIC ANALYSIS (LSA)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1891" y="7899717"/>
            <a:ext cx="5376416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32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NN, NNS, NNP, NNPS    → NOUNS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32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VB, VBD, VBG...       → VERBS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32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JJ, JJR, JJS          → ADJECTIVES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97599" y="7704455"/>
            <a:ext cx="3553495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32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DT   → THE, A, AN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32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   → IN, ON, AT, OF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32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CC   → AND, OR, BUT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32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PRP  → HE, SHE, THEY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0941" y="6772274"/>
            <a:ext cx="5419204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 spc="44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KEEP: CONTENT WORDS: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16088" y="6793874"/>
            <a:ext cx="6696968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 spc="44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DISCARD (FUNCTION WORDS):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2112569" y="7350534"/>
            <a:ext cx="3620873" cy="224900"/>
            <a:chOff x="0" y="0"/>
            <a:chExt cx="9194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65079" y="304800"/>
              <a:ext cx="12120036" cy="203200"/>
            </a:xfrm>
            <a:custGeom>
              <a:avLst/>
              <a:gdLst/>
              <a:ahLst/>
              <a:cxnLst/>
              <a:rect r="r" b="b" t="t" l="l"/>
              <a:pathLst>
                <a:path h="203200" w="12120036">
                  <a:moveTo>
                    <a:pt x="147805" y="0"/>
                  </a:moveTo>
                  <a:cubicBezTo>
                    <a:pt x="229098" y="0"/>
                    <a:pt x="295611" y="45720"/>
                    <a:pt x="295611" y="101600"/>
                  </a:cubicBezTo>
                  <a:cubicBezTo>
                    <a:pt x="295611" y="157480"/>
                    <a:pt x="229098" y="203200"/>
                    <a:pt x="147805" y="203200"/>
                  </a:cubicBezTo>
                  <a:cubicBezTo>
                    <a:pt x="66513" y="203200"/>
                    <a:pt x="0" y="157480"/>
                    <a:pt x="0" y="101600"/>
                  </a:cubicBezTo>
                  <a:cubicBezTo>
                    <a:pt x="0" y="45720"/>
                    <a:pt x="66513" y="0"/>
                    <a:pt x="147805" y="0"/>
                  </a:cubicBezTo>
                  <a:close/>
                  <a:moveTo>
                    <a:pt x="739027" y="0"/>
                  </a:moveTo>
                  <a:cubicBezTo>
                    <a:pt x="820320" y="0"/>
                    <a:pt x="886832" y="45720"/>
                    <a:pt x="886832" y="101600"/>
                  </a:cubicBezTo>
                  <a:cubicBezTo>
                    <a:pt x="886832" y="157480"/>
                    <a:pt x="820320" y="203200"/>
                    <a:pt x="739027" y="203200"/>
                  </a:cubicBezTo>
                  <a:cubicBezTo>
                    <a:pt x="657734" y="203200"/>
                    <a:pt x="591221" y="157480"/>
                    <a:pt x="591221" y="101600"/>
                  </a:cubicBezTo>
                  <a:cubicBezTo>
                    <a:pt x="591221" y="45720"/>
                    <a:pt x="657734" y="0"/>
                    <a:pt x="739027" y="0"/>
                  </a:cubicBezTo>
                  <a:close/>
                  <a:moveTo>
                    <a:pt x="1330248" y="0"/>
                  </a:moveTo>
                  <a:cubicBezTo>
                    <a:pt x="1411541" y="0"/>
                    <a:pt x="1478053" y="45720"/>
                    <a:pt x="1478053" y="101600"/>
                  </a:cubicBezTo>
                  <a:cubicBezTo>
                    <a:pt x="1478053" y="157480"/>
                    <a:pt x="1411541" y="203200"/>
                    <a:pt x="1330248" y="203200"/>
                  </a:cubicBezTo>
                  <a:cubicBezTo>
                    <a:pt x="1248955" y="203200"/>
                    <a:pt x="1182443" y="157480"/>
                    <a:pt x="1182443" y="101600"/>
                  </a:cubicBezTo>
                  <a:cubicBezTo>
                    <a:pt x="1182443" y="45720"/>
                    <a:pt x="1248955" y="0"/>
                    <a:pt x="1330248" y="0"/>
                  </a:cubicBezTo>
                  <a:close/>
                  <a:moveTo>
                    <a:pt x="1921469" y="0"/>
                  </a:moveTo>
                  <a:cubicBezTo>
                    <a:pt x="2002762" y="0"/>
                    <a:pt x="2069275" y="45720"/>
                    <a:pt x="2069275" y="101600"/>
                  </a:cubicBezTo>
                  <a:cubicBezTo>
                    <a:pt x="2069275" y="157480"/>
                    <a:pt x="2002762" y="203200"/>
                    <a:pt x="1921469" y="203200"/>
                  </a:cubicBezTo>
                  <a:cubicBezTo>
                    <a:pt x="1840177" y="203200"/>
                    <a:pt x="1773664" y="157480"/>
                    <a:pt x="1773664" y="101600"/>
                  </a:cubicBezTo>
                  <a:cubicBezTo>
                    <a:pt x="1773664" y="45720"/>
                    <a:pt x="1840177" y="0"/>
                    <a:pt x="1921469" y="0"/>
                  </a:cubicBezTo>
                  <a:close/>
                  <a:moveTo>
                    <a:pt x="2512691" y="0"/>
                  </a:moveTo>
                  <a:cubicBezTo>
                    <a:pt x="2593984" y="0"/>
                    <a:pt x="2660496" y="45720"/>
                    <a:pt x="2660496" y="101600"/>
                  </a:cubicBezTo>
                  <a:cubicBezTo>
                    <a:pt x="2660496" y="157480"/>
                    <a:pt x="2593984" y="203200"/>
                    <a:pt x="2512691" y="203200"/>
                  </a:cubicBezTo>
                  <a:cubicBezTo>
                    <a:pt x="2431398" y="203200"/>
                    <a:pt x="2364885" y="157480"/>
                    <a:pt x="2364885" y="101600"/>
                  </a:cubicBezTo>
                  <a:cubicBezTo>
                    <a:pt x="2364885" y="45720"/>
                    <a:pt x="2431398" y="0"/>
                    <a:pt x="2512691" y="0"/>
                  </a:cubicBezTo>
                  <a:close/>
                  <a:moveTo>
                    <a:pt x="3103912" y="0"/>
                  </a:moveTo>
                  <a:cubicBezTo>
                    <a:pt x="3185205" y="0"/>
                    <a:pt x="3251717" y="45720"/>
                    <a:pt x="3251717" y="101600"/>
                  </a:cubicBezTo>
                  <a:cubicBezTo>
                    <a:pt x="3251717" y="157480"/>
                    <a:pt x="3185205" y="203200"/>
                    <a:pt x="3103912" y="203200"/>
                  </a:cubicBezTo>
                  <a:cubicBezTo>
                    <a:pt x="3022619" y="203200"/>
                    <a:pt x="2956107" y="157480"/>
                    <a:pt x="2956107" y="101600"/>
                  </a:cubicBezTo>
                  <a:cubicBezTo>
                    <a:pt x="2956107" y="45720"/>
                    <a:pt x="3022619" y="0"/>
                    <a:pt x="3103912" y="0"/>
                  </a:cubicBezTo>
                  <a:close/>
                  <a:moveTo>
                    <a:pt x="3695133" y="0"/>
                  </a:moveTo>
                  <a:cubicBezTo>
                    <a:pt x="3776426" y="0"/>
                    <a:pt x="3842939" y="45720"/>
                    <a:pt x="3842939" y="101600"/>
                  </a:cubicBezTo>
                  <a:cubicBezTo>
                    <a:pt x="3842939" y="157480"/>
                    <a:pt x="3776426" y="203200"/>
                    <a:pt x="3695133" y="203200"/>
                  </a:cubicBezTo>
                  <a:cubicBezTo>
                    <a:pt x="3613840" y="203200"/>
                    <a:pt x="3547328" y="157480"/>
                    <a:pt x="3547328" y="101600"/>
                  </a:cubicBezTo>
                  <a:cubicBezTo>
                    <a:pt x="3547328" y="45720"/>
                    <a:pt x="3613840" y="0"/>
                    <a:pt x="3695133" y="0"/>
                  </a:cubicBezTo>
                  <a:close/>
                  <a:moveTo>
                    <a:pt x="4286355" y="0"/>
                  </a:moveTo>
                  <a:cubicBezTo>
                    <a:pt x="4367647" y="0"/>
                    <a:pt x="4434160" y="45720"/>
                    <a:pt x="4434160" y="101600"/>
                  </a:cubicBezTo>
                  <a:cubicBezTo>
                    <a:pt x="4434160" y="157480"/>
                    <a:pt x="4367647" y="203200"/>
                    <a:pt x="4286355" y="203200"/>
                  </a:cubicBezTo>
                  <a:cubicBezTo>
                    <a:pt x="4205062" y="203200"/>
                    <a:pt x="4138549" y="157480"/>
                    <a:pt x="4138549" y="101600"/>
                  </a:cubicBezTo>
                  <a:cubicBezTo>
                    <a:pt x="4138549" y="45720"/>
                    <a:pt x="4205062" y="0"/>
                    <a:pt x="4286355" y="0"/>
                  </a:cubicBezTo>
                  <a:close/>
                  <a:moveTo>
                    <a:pt x="4877576" y="0"/>
                  </a:moveTo>
                  <a:cubicBezTo>
                    <a:pt x="4958869" y="0"/>
                    <a:pt x="5025381" y="45720"/>
                    <a:pt x="5025381" y="101600"/>
                  </a:cubicBezTo>
                  <a:cubicBezTo>
                    <a:pt x="5025381" y="157480"/>
                    <a:pt x="4958869" y="203200"/>
                    <a:pt x="4877576" y="203200"/>
                  </a:cubicBezTo>
                  <a:cubicBezTo>
                    <a:pt x="4796283" y="203200"/>
                    <a:pt x="4729771" y="157480"/>
                    <a:pt x="4729771" y="101600"/>
                  </a:cubicBezTo>
                  <a:cubicBezTo>
                    <a:pt x="4729771" y="45720"/>
                    <a:pt x="4796283" y="0"/>
                    <a:pt x="4877576" y="0"/>
                  </a:cubicBezTo>
                  <a:close/>
                  <a:moveTo>
                    <a:pt x="5468797" y="0"/>
                  </a:moveTo>
                  <a:cubicBezTo>
                    <a:pt x="5550090" y="0"/>
                    <a:pt x="5616602" y="45720"/>
                    <a:pt x="5616602" y="101600"/>
                  </a:cubicBezTo>
                  <a:cubicBezTo>
                    <a:pt x="5616602" y="157480"/>
                    <a:pt x="5550090" y="203200"/>
                    <a:pt x="5468797" y="203200"/>
                  </a:cubicBezTo>
                  <a:cubicBezTo>
                    <a:pt x="5387504" y="203200"/>
                    <a:pt x="5320992" y="157480"/>
                    <a:pt x="5320992" y="101600"/>
                  </a:cubicBezTo>
                  <a:cubicBezTo>
                    <a:pt x="5320992" y="45720"/>
                    <a:pt x="5387504" y="0"/>
                    <a:pt x="5468797" y="0"/>
                  </a:cubicBezTo>
                  <a:close/>
                  <a:moveTo>
                    <a:pt x="6060018" y="0"/>
                  </a:moveTo>
                  <a:cubicBezTo>
                    <a:pt x="6141311" y="0"/>
                    <a:pt x="6207824" y="45720"/>
                    <a:pt x="6207824" y="101600"/>
                  </a:cubicBezTo>
                  <a:cubicBezTo>
                    <a:pt x="6207824" y="157480"/>
                    <a:pt x="6141311" y="203200"/>
                    <a:pt x="6060018" y="203200"/>
                  </a:cubicBezTo>
                  <a:cubicBezTo>
                    <a:pt x="5978725" y="203200"/>
                    <a:pt x="5912213" y="157480"/>
                    <a:pt x="5912213" y="101600"/>
                  </a:cubicBezTo>
                  <a:cubicBezTo>
                    <a:pt x="5912213" y="45720"/>
                    <a:pt x="5978725" y="0"/>
                    <a:pt x="6060018" y="0"/>
                  </a:cubicBezTo>
                  <a:close/>
                  <a:moveTo>
                    <a:pt x="6651239" y="0"/>
                  </a:moveTo>
                  <a:cubicBezTo>
                    <a:pt x="6732532" y="0"/>
                    <a:pt x="6799045" y="45720"/>
                    <a:pt x="6799045" y="101600"/>
                  </a:cubicBezTo>
                  <a:cubicBezTo>
                    <a:pt x="6799045" y="157480"/>
                    <a:pt x="6732532" y="203200"/>
                    <a:pt x="6651239" y="203200"/>
                  </a:cubicBezTo>
                  <a:cubicBezTo>
                    <a:pt x="6569947" y="203200"/>
                    <a:pt x="6503434" y="157480"/>
                    <a:pt x="6503434" y="101600"/>
                  </a:cubicBezTo>
                  <a:cubicBezTo>
                    <a:pt x="6503434" y="45720"/>
                    <a:pt x="6569947" y="0"/>
                    <a:pt x="6651239" y="0"/>
                  </a:cubicBezTo>
                  <a:close/>
                  <a:moveTo>
                    <a:pt x="7242461" y="0"/>
                  </a:moveTo>
                  <a:cubicBezTo>
                    <a:pt x="7323753" y="0"/>
                    <a:pt x="7390266" y="45720"/>
                    <a:pt x="7390266" y="101600"/>
                  </a:cubicBezTo>
                  <a:cubicBezTo>
                    <a:pt x="7390266" y="157480"/>
                    <a:pt x="7323753" y="203200"/>
                    <a:pt x="7242461" y="203200"/>
                  </a:cubicBezTo>
                  <a:cubicBezTo>
                    <a:pt x="7161168" y="203200"/>
                    <a:pt x="7094656" y="157480"/>
                    <a:pt x="7094656" y="101600"/>
                  </a:cubicBezTo>
                  <a:cubicBezTo>
                    <a:pt x="7094656" y="45720"/>
                    <a:pt x="7161168" y="0"/>
                    <a:pt x="7242461" y="0"/>
                  </a:cubicBezTo>
                  <a:close/>
                  <a:moveTo>
                    <a:pt x="7833682" y="0"/>
                  </a:moveTo>
                  <a:cubicBezTo>
                    <a:pt x="7914975" y="0"/>
                    <a:pt x="7981488" y="45720"/>
                    <a:pt x="7981488" y="101600"/>
                  </a:cubicBezTo>
                  <a:cubicBezTo>
                    <a:pt x="7981488" y="157480"/>
                    <a:pt x="7914975" y="203200"/>
                    <a:pt x="7833682" y="203200"/>
                  </a:cubicBezTo>
                  <a:cubicBezTo>
                    <a:pt x="7752389" y="203200"/>
                    <a:pt x="7685877" y="157480"/>
                    <a:pt x="7685877" y="101600"/>
                  </a:cubicBezTo>
                  <a:cubicBezTo>
                    <a:pt x="7685877" y="45720"/>
                    <a:pt x="7752389" y="0"/>
                    <a:pt x="7833682" y="0"/>
                  </a:cubicBezTo>
                  <a:close/>
                  <a:moveTo>
                    <a:pt x="8424903" y="0"/>
                  </a:moveTo>
                  <a:cubicBezTo>
                    <a:pt x="8506197" y="0"/>
                    <a:pt x="8572709" y="45720"/>
                    <a:pt x="8572709" y="101600"/>
                  </a:cubicBezTo>
                  <a:cubicBezTo>
                    <a:pt x="8572709" y="157480"/>
                    <a:pt x="8506197" y="203200"/>
                    <a:pt x="8424903" y="203200"/>
                  </a:cubicBezTo>
                  <a:cubicBezTo>
                    <a:pt x="8343610" y="203200"/>
                    <a:pt x="8277098" y="157480"/>
                    <a:pt x="8277098" y="101600"/>
                  </a:cubicBezTo>
                  <a:cubicBezTo>
                    <a:pt x="8277098" y="45720"/>
                    <a:pt x="8343610" y="0"/>
                    <a:pt x="8424903" y="0"/>
                  </a:cubicBezTo>
                  <a:close/>
                  <a:moveTo>
                    <a:pt x="9016124" y="0"/>
                  </a:moveTo>
                  <a:cubicBezTo>
                    <a:pt x="9097418" y="0"/>
                    <a:pt x="9163930" y="45720"/>
                    <a:pt x="9163930" y="101600"/>
                  </a:cubicBezTo>
                  <a:cubicBezTo>
                    <a:pt x="9163930" y="157480"/>
                    <a:pt x="9097418" y="203200"/>
                    <a:pt x="9016124" y="203200"/>
                  </a:cubicBezTo>
                  <a:cubicBezTo>
                    <a:pt x="8934832" y="203200"/>
                    <a:pt x="8868320" y="157480"/>
                    <a:pt x="8868320" y="101600"/>
                  </a:cubicBezTo>
                  <a:cubicBezTo>
                    <a:pt x="8868320" y="45720"/>
                    <a:pt x="8934832" y="0"/>
                    <a:pt x="9016124" y="0"/>
                  </a:cubicBezTo>
                  <a:close/>
                  <a:moveTo>
                    <a:pt x="9607346" y="0"/>
                  </a:moveTo>
                  <a:cubicBezTo>
                    <a:pt x="9688639" y="0"/>
                    <a:pt x="9755151" y="45720"/>
                    <a:pt x="9755151" y="101600"/>
                  </a:cubicBezTo>
                  <a:cubicBezTo>
                    <a:pt x="9755151" y="157480"/>
                    <a:pt x="9688639" y="203200"/>
                    <a:pt x="9607346" y="203200"/>
                  </a:cubicBezTo>
                  <a:cubicBezTo>
                    <a:pt x="9526053" y="203200"/>
                    <a:pt x="9459541" y="157480"/>
                    <a:pt x="9459541" y="101600"/>
                  </a:cubicBezTo>
                  <a:cubicBezTo>
                    <a:pt x="9459541" y="45720"/>
                    <a:pt x="9526053" y="0"/>
                    <a:pt x="9607346" y="0"/>
                  </a:cubicBezTo>
                  <a:close/>
                  <a:moveTo>
                    <a:pt x="10198567" y="0"/>
                  </a:moveTo>
                  <a:cubicBezTo>
                    <a:pt x="10279860" y="0"/>
                    <a:pt x="10346373" y="45720"/>
                    <a:pt x="10346373" y="101600"/>
                  </a:cubicBezTo>
                  <a:cubicBezTo>
                    <a:pt x="10346373" y="157480"/>
                    <a:pt x="10279860" y="203200"/>
                    <a:pt x="10198567" y="203200"/>
                  </a:cubicBezTo>
                  <a:cubicBezTo>
                    <a:pt x="10117274" y="203200"/>
                    <a:pt x="10050762" y="157480"/>
                    <a:pt x="10050762" y="101600"/>
                  </a:cubicBezTo>
                  <a:cubicBezTo>
                    <a:pt x="10050762" y="45720"/>
                    <a:pt x="10117274" y="0"/>
                    <a:pt x="10198567" y="0"/>
                  </a:cubicBezTo>
                  <a:close/>
                  <a:moveTo>
                    <a:pt x="10789788" y="0"/>
                  </a:moveTo>
                  <a:cubicBezTo>
                    <a:pt x="10871082" y="0"/>
                    <a:pt x="10937594" y="45720"/>
                    <a:pt x="10937594" y="101600"/>
                  </a:cubicBezTo>
                  <a:cubicBezTo>
                    <a:pt x="10937594" y="157480"/>
                    <a:pt x="10871082" y="203200"/>
                    <a:pt x="10789788" y="203200"/>
                  </a:cubicBezTo>
                  <a:cubicBezTo>
                    <a:pt x="10708496" y="203200"/>
                    <a:pt x="10641983" y="157480"/>
                    <a:pt x="10641983" y="101600"/>
                  </a:cubicBezTo>
                  <a:cubicBezTo>
                    <a:pt x="10641983" y="45720"/>
                    <a:pt x="10708496" y="0"/>
                    <a:pt x="10789788" y="0"/>
                  </a:cubicBezTo>
                  <a:close/>
                  <a:moveTo>
                    <a:pt x="11381010" y="0"/>
                  </a:moveTo>
                  <a:cubicBezTo>
                    <a:pt x="11462303" y="0"/>
                    <a:pt x="11528815" y="45720"/>
                    <a:pt x="11528815" y="101600"/>
                  </a:cubicBezTo>
                  <a:cubicBezTo>
                    <a:pt x="11528815" y="157480"/>
                    <a:pt x="11462303" y="203200"/>
                    <a:pt x="11381010" y="203200"/>
                  </a:cubicBezTo>
                  <a:cubicBezTo>
                    <a:pt x="11299717" y="203200"/>
                    <a:pt x="11233205" y="157480"/>
                    <a:pt x="11233205" y="101600"/>
                  </a:cubicBezTo>
                  <a:cubicBezTo>
                    <a:pt x="11233205" y="45720"/>
                    <a:pt x="11299717" y="0"/>
                    <a:pt x="11381010" y="0"/>
                  </a:cubicBezTo>
                  <a:close/>
                  <a:moveTo>
                    <a:pt x="11972231" y="0"/>
                  </a:moveTo>
                  <a:cubicBezTo>
                    <a:pt x="12053524" y="0"/>
                    <a:pt x="12120037" y="45720"/>
                    <a:pt x="12120037" y="101600"/>
                  </a:cubicBezTo>
                  <a:cubicBezTo>
                    <a:pt x="12120037" y="157480"/>
                    <a:pt x="12053524" y="203200"/>
                    <a:pt x="11972231" y="203200"/>
                  </a:cubicBezTo>
                  <a:cubicBezTo>
                    <a:pt x="11890938" y="203200"/>
                    <a:pt x="11824426" y="157480"/>
                    <a:pt x="11824426" y="101600"/>
                  </a:cubicBezTo>
                  <a:cubicBezTo>
                    <a:pt x="11824426" y="45720"/>
                    <a:pt x="11890938" y="0"/>
                    <a:pt x="11972231" y="0"/>
                  </a:cubicBezTo>
                  <a:close/>
                </a:path>
              </a:pathLst>
            </a:custGeom>
            <a:solidFill>
              <a:srgbClr val="20202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3363827" y="1028700"/>
            <a:ext cx="5453349" cy="4114800"/>
          </a:xfrm>
          <a:custGeom>
            <a:avLst/>
            <a:gdLst/>
            <a:ahLst/>
            <a:cxnLst/>
            <a:rect r="r" b="b" t="t" l="l"/>
            <a:pathLst>
              <a:path h="4114800" w="5453349">
                <a:moveTo>
                  <a:pt x="0" y="0"/>
                </a:moveTo>
                <a:lnTo>
                  <a:pt x="5453349" y="0"/>
                </a:lnTo>
                <a:lnTo>
                  <a:pt x="54533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72723" y="3658159"/>
            <a:ext cx="7142554" cy="1821351"/>
          </a:xfrm>
          <a:custGeom>
            <a:avLst/>
            <a:gdLst/>
            <a:ahLst/>
            <a:cxnLst/>
            <a:rect r="r" b="b" t="t" l="l"/>
            <a:pathLst>
              <a:path h="1821351" w="7142554">
                <a:moveTo>
                  <a:pt x="0" y="0"/>
                </a:moveTo>
                <a:lnTo>
                  <a:pt x="7142554" y="0"/>
                </a:lnTo>
                <a:lnTo>
                  <a:pt x="7142554" y="1821352"/>
                </a:lnTo>
                <a:lnTo>
                  <a:pt x="0" y="1821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17106" y="2415634"/>
            <a:ext cx="13453788" cy="1622014"/>
            <a:chOff x="0" y="0"/>
            <a:chExt cx="17938384" cy="216268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90880"/>
              <a:ext cx="179383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940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505080" y="57150"/>
              <a:ext cx="14928225" cy="1232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9"/>
                </a:lnSpc>
              </a:pPr>
              <a:r>
                <a:rPr lang="en-US" b="true" sz="6399" spc="-31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is TF-IDF?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4. TEXT REPRESENTATION (TF-IDF)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87842" y="6466987"/>
            <a:ext cx="11183052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3220" indent="-181610" lvl="1">
              <a:lnSpc>
                <a:spcPts val="3079"/>
              </a:lnSpc>
              <a:buFont typeface="Arial"/>
              <a:buChar char="•"/>
            </a:pPr>
            <a:r>
              <a:rPr lang="en-US" b="true" sz="2199" spc="43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TF</a:t>
            </a:r>
            <a:r>
              <a:rPr lang="en-US" sz="2199" spc="43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— how often term t</a:t>
            </a:r>
            <a:r>
              <a:rPr lang="en-US" sz="2199" i="true" spc="43">
                <a:solidFill>
                  <a:srgbClr val="20202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t</a:t>
            </a:r>
            <a:r>
              <a:rPr lang="en-US" sz="2199" spc="43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appears in document d</a:t>
            </a:r>
            <a:r>
              <a:rPr lang="en-US" sz="2199" i="true" spc="43">
                <a:solidFill>
                  <a:srgbClr val="20202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d</a:t>
            </a:r>
            <a:r>
              <a:rPr lang="en-US" sz="2199" spc="43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(sublinear to dampen repetition)</a:t>
            </a:r>
          </a:p>
          <a:p>
            <a:pPr algn="l">
              <a:lnSpc>
                <a:spcPts val="3079"/>
              </a:lnSpc>
            </a:pPr>
          </a:p>
          <a:p>
            <a:pPr algn="l" marL="363220" indent="-181610" lvl="1">
              <a:lnSpc>
                <a:spcPts val="3079"/>
              </a:lnSpc>
              <a:buFont typeface="Arial"/>
              <a:buChar char="•"/>
            </a:pPr>
            <a:r>
              <a:rPr lang="en-US" b="true" sz="2199" spc="43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IDF</a:t>
            </a:r>
            <a:r>
              <a:rPr lang="en-US" sz="2199" spc="43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— how rare t</a:t>
            </a:r>
            <a:r>
              <a:rPr lang="en-US" sz="2199" i="true" spc="43">
                <a:solidFill>
                  <a:srgbClr val="20202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t</a:t>
            </a:r>
            <a:r>
              <a:rPr lang="en-US" sz="2199" spc="43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is across all N</a:t>
            </a:r>
            <a:r>
              <a:rPr lang="en-US" sz="2199" i="true" spc="43">
                <a:solidFill>
                  <a:srgbClr val="20202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N</a:t>
            </a:r>
            <a:r>
              <a:rPr lang="en-US" sz="2199" spc="43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documents (rewards discriminating terms)</a:t>
            </a:r>
          </a:p>
          <a:p>
            <a:pPr algn="l">
              <a:lnSpc>
                <a:spcPts val="3079"/>
              </a:lnSpc>
            </a:pPr>
          </a:p>
          <a:p>
            <a:pPr algn="l" marL="363220" indent="-18161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pc="43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Result: each document becomes a </a:t>
            </a:r>
            <a:r>
              <a:rPr lang="en-US" b="true" sz="2199" spc="43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sparse vector</a:t>
            </a:r>
            <a:r>
              <a:rPr lang="en-US" sz="2199" spc="43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 V</a:t>
            </a:r>
            <a:r>
              <a:rPr lang="en-US" sz="2199" i="true" spc="43">
                <a:solidFill>
                  <a:srgbClr val="20202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V</a:t>
            </a:r>
            <a:r>
              <a:rPr lang="en-US" sz="2199" spc="43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-dimensional term space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522589" y="5208324"/>
            <a:ext cx="3620873" cy="224900"/>
            <a:chOff x="0" y="0"/>
            <a:chExt cx="9194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65079" y="304800"/>
              <a:ext cx="12120036" cy="203200"/>
            </a:xfrm>
            <a:custGeom>
              <a:avLst/>
              <a:gdLst/>
              <a:ahLst/>
              <a:cxnLst/>
              <a:rect r="r" b="b" t="t" l="l"/>
              <a:pathLst>
                <a:path h="203200" w="12120036">
                  <a:moveTo>
                    <a:pt x="147805" y="0"/>
                  </a:moveTo>
                  <a:cubicBezTo>
                    <a:pt x="229098" y="0"/>
                    <a:pt x="295611" y="45720"/>
                    <a:pt x="295611" y="101600"/>
                  </a:cubicBezTo>
                  <a:cubicBezTo>
                    <a:pt x="295611" y="157480"/>
                    <a:pt x="229098" y="203200"/>
                    <a:pt x="147805" y="203200"/>
                  </a:cubicBezTo>
                  <a:cubicBezTo>
                    <a:pt x="66513" y="203200"/>
                    <a:pt x="0" y="157480"/>
                    <a:pt x="0" y="101600"/>
                  </a:cubicBezTo>
                  <a:cubicBezTo>
                    <a:pt x="0" y="45720"/>
                    <a:pt x="66513" y="0"/>
                    <a:pt x="147805" y="0"/>
                  </a:cubicBezTo>
                  <a:close/>
                  <a:moveTo>
                    <a:pt x="739027" y="0"/>
                  </a:moveTo>
                  <a:cubicBezTo>
                    <a:pt x="820320" y="0"/>
                    <a:pt x="886832" y="45720"/>
                    <a:pt x="886832" y="101600"/>
                  </a:cubicBezTo>
                  <a:cubicBezTo>
                    <a:pt x="886832" y="157480"/>
                    <a:pt x="820320" y="203200"/>
                    <a:pt x="739027" y="203200"/>
                  </a:cubicBezTo>
                  <a:cubicBezTo>
                    <a:pt x="657734" y="203200"/>
                    <a:pt x="591221" y="157480"/>
                    <a:pt x="591221" y="101600"/>
                  </a:cubicBezTo>
                  <a:cubicBezTo>
                    <a:pt x="591221" y="45720"/>
                    <a:pt x="657734" y="0"/>
                    <a:pt x="739027" y="0"/>
                  </a:cubicBezTo>
                  <a:close/>
                  <a:moveTo>
                    <a:pt x="1330248" y="0"/>
                  </a:moveTo>
                  <a:cubicBezTo>
                    <a:pt x="1411541" y="0"/>
                    <a:pt x="1478053" y="45720"/>
                    <a:pt x="1478053" y="101600"/>
                  </a:cubicBezTo>
                  <a:cubicBezTo>
                    <a:pt x="1478053" y="157480"/>
                    <a:pt x="1411541" y="203200"/>
                    <a:pt x="1330248" y="203200"/>
                  </a:cubicBezTo>
                  <a:cubicBezTo>
                    <a:pt x="1248955" y="203200"/>
                    <a:pt x="1182443" y="157480"/>
                    <a:pt x="1182443" y="101600"/>
                  </a:cubicBezTo>
                  <a:cubicBezTo>
                    <a:pt x="1182443" y="45720"/>
                    <a:pt x="1248955" y="0"/>
                    <a:pt x="1330248" y="0"/>
                  </a:cubicBezTo>
                  <a:close/>
                  <a:moveTo>
                    <a:pt x="1921469" y="0"/>
                  </a:moveTo>
                  <a:cubicBezTo>
                    <a:pt x="2002762" y="0"/>
                    <a:pt x="2069275" y="45720"/>
                    <a:pt x="2069275" y="101600"/>
                  </a:cubicBezTo>
                  <a:cubicBezTo>
                    <a:pt x="2069275" y="157480"/>
                    <a:pt x="2002762" y="203200"/>
                    <a:pt x="1921469" y="203200"/>
                  </a:cubicBezTo>
                  <a:cubicBezTo>
                    <a:pt x="1840177" y="203200"/>
                    <a:pt x="1773664" y="157480"/>
                    <a:pt x="1773664" y="101600"/>
                  </a:cubicBezTo>
                  <a:cubicBezTo>
                    <a:pt x="1773664" y="45720"/>
                    <a:pt x="1840177" y="0"/>
                    <a:pt x="1921469" y="0"/>
                  </a:cubicBezTo>
                  <a:close/>
                  <a:moveTo>
                    <a:pt x="2512691" y="0"/>
                  </a:moveTo>
                  <a:cubicBezTo>
                    <a:pt x="2593984" y="0"/>
                    <a:pt x="2660496" y="45720"/>
                    <a:pt x="2660496" y="101600"/>
                  </a:cubicBezTo>
                  <a:cubicBezTo>
                    <a:pt x="2660496" y="157480"/>
                    <a:pt x="2593984" y="203200"/>
                    <a:pt x="2512691" y="203200"/>
                  </a:cubicBezTo>
                  <a:cubicBezTo>
                    <a:pt x="2431398" y="203200"/>
                    <a:pt x="2364885" y="157480"/>
                    <a:pt x="2364885" y="101600"/>
                  </a:cubicBezTo>
                  <a:cubicBezTo>
                    <a:pt x="2364885" y="45720"/>
                    <a:pt x="2431398" y="0"/>
                    <a:pt x="2512691" y="0"/>
                  </a:cubicBezTo>
                  <a:close/>
                  <a:moveTo>
                    <a:pt x="3103912" y="0"/>
                  </a:moveTo>
                  <a:cubicBezTo>
                    <a:pt x="3185205" y="0"/>
                    <a:pt x="3251717" y="45720"/>
                    <a:pt x="3251717" y="101600"/>
                  </a:cubicBezTo>
                  <a:cubicBezTo>
                    <a:pt x="3251717" y="157480"/>
                    <a:pt x="3185205" y="203200"/>
                    <a:pt x="3103912" y="203200"/>
                  </a:cubicBezTo>
                  <a:cubicBezTo>
                    <a:pt x="3022619" y="203200"/>
                    <a:pt x="2956107" y="157480"/>
                    <a:pt x="2956107" y="101600"/>
                  </a:cubicBezTo>
                  <a:cubicBezTo>
                    <a:pt x="2956107" y="45720"/>
                    <a:pt x="3022619" y="0"/>
                    <a:pt x="3103912" y="0"/>
                  </a:cubicBezTo>
                  <a:close/>
                  <a:moveTo>
                    <a:pt x="3695133" y="0"/>
                  </a:moveTo>
                  <a:cubicBezTo>
                    <a:pt x="3776426" y="0"/>
                    <a:pt x="3842939" y="45720"/>
                    <a:pt x="3842939" y="101600"/>
                  </a:cubicBezTo>
                  <a:cubicBezTo>
                    <a:pt x="3842939" y="157480"/>
                    <a:pt x="3776426" y="203200"/>
                    <a:pt x="3695133" y="203200"/>
                  </a:cubicBezTo>
                  <a:cubicBezTo>
                    <a:pt x="3613840" y="203200"/>
                    <a:pt x="3547328" y="157480"/>
                    <a:pt x="3547328" y="101600"/>
                  </a:cubicBezTo>
                  <a:cubicBezTo>
                    <a:pt x="3547328" y="45720"/>
                    <a:pt x="3613840" y="0"/>
                    <a:pt x="3695133" y="0"/>
                  </a:cubicBezTo>
                  <a:close/>
                  <a:moveTo>
                    <a:pt x="4286355" y="0"/>
                  </a:moveTo>
                  <a:cubicBezTo>
                    <a:pt x="4367647" y="0"/>
                    <a:pt x="4434160" y="45720"/>
                    <a:pt x="4434160" y="101600"/>
                  </a:cubicBezTo>
                  <a:cubicBezTo>
                    <a:pt x="4434160" y="157480"/>
                    <a:pt x="4367647" y="203200"/>
                    <a:pt x="4286355" y="203200"/>
                  </a:cubicBezTo>
                  <a:cubicBezTo>
                    <a:pt x="4205062" y="203200"/>
                    <a:pt x="4138549" y="157480"/>
                    <a:pt x="4138549" y="101600"/>
                  </a:cubicBezTo>
                  <a:cubicBezTo>
                    <a:pt x="4138549" y="45720"/>
                    <a:pt x="4205062" y="0"/>
                    <a:pt x="4286355" y="0"/>
                  </a:cubicBezTo>
                  <a:close/>
                  <a:moveTo>
                    <a:pt x="4877576" y="0"/>
                  </a:moveTo>
                  <a:cubicBezTo>
                    <a:pt x="4958869" y="0"/>
                    <a:pt x="5025381" y="45720"/>
                    <a:pt x="5025381" y="101600"/>
                  </a:cubicBezTo>
                  <a:cubicBezTo>
                    <a:pt x="5025381" y="157480"/>
                    <a:pt x="4958869" y="203200"/>
                    <a:pt x="4877576" y="203200"/>
                  </a:cubicBezTo>
                  <a:cubicBezTo>
                    <a:pt x="4796283" y="203200"/>
                    <a:pt x="4729771" y="157480"/>
                    <a:pt x="4729771" y="101600"/>
                  </a:cubicBezTo>
                  <a:cubicBezTo>
                    <a:pt x="4729771" y="45720"/>
                    <a:pt x="4796283" y="0"/>
                    <a:pt x="4877576" y="0"/>
                  </a:cubicBezTo>
                  <a:close/>
                  <a:moveTo>
                    <a:pt x="5468797" y="0"/>
                  </a:moveTo>
                  <a:cubicBezTo>
                    <a:pt x="5550090" y="0"/>
                    <a:pt x="5616602" y="45720"/>
                    <a:pt x="5616602" y="101600"/>
                  </a:cubicBezTo>
                  <a:cubicBezTo>
                    <a:pt x="5616602" y="157480"/>
                    <a:pt x="5550090" y="203200"/>
                    <a:pt x="5468797" y="203200"/>
                  </a:cubicBezTo>
                  <a:cubicBezTo>
                    <a:pt x="5387504" y="203200"/>
                    <a:pt x="5320992" y="157480"/>
                    <a:pt x="5320992" y="101600"/>
                  </a:cubicBezTo>
                  <a:cubicBezTo>
                    <a:pt x="5320992" y="45720"/>
                    <a:pt x="5387504" y="0"/>
                    <a:pt x="5468797" y="0"/>
                  </a:cubicBezTo>
                  <a:close/>
                  <a:moveTo>
                    <a:pt x="6060018" y="0"/>
                  </a:moveTo>
                  <a:cubicBezTo>
                    <a:pt x="6141311" y="0"/>
                    <a:pt x="6207824" y="45720"/>
                    <a:pt x="6207824" y="101600"/>
                  </a:cubicBezTo>
                  <a:cubicBezTo>
                    <a:pt x="6207824" y="157480"/>
                    <a:pt x="6141311" y="203200"/>
                    <a:pt x="6060018" y="203200"/>
                  </a:cubicBezTo>
                  <a:cubicBezTo>
                    <a:pt x="5978725" y="203200"/>
                    <a:pt x="5912213" y="157480"/>
                    <a:pt x="5912213" y="101600"/>
                  </a:cubicBezTo>
                  <a:cubicBezTo>
                    <a:pt x="5912213" y="45720"/>
                    <a:pt x="5978725" y="0"/>
                    <a:pt x="6060018" y="0"/>
                  </a:cubicBezTo>
                  <a:close/>
                  <a:moveTo>
                    <a:pt x="6651239" y="0"/>
                  </a:moveTo>
                  <a:cubicBezTo>
                    <a:pt x="6732532" y="0"/>
                    <a:pt x="6799045" y="45720"/>
                    <a:pt x="6799045" y="101600"/>
                  </a:cubicBezTo>
                  <a:cubicBezTo>
                    <a:pt x="6799045" y="157480"/>
                    <a:pt x="6732532" y="203200"/>
                    <a:pt x="6651239" y="203200"/>
                  </a:cubicBezTo>
                  <a:cubicBezTo>
                    <a:pt x="6569947" y="203200"/>
                    <a:pt x="6503434" y="157480"/>
                    <a:pt x="6503434" y="101600"/>
                  </a:cubicBezTo>
                  <a:cubicBezTo>
                    <a:pt x="6503434" y="45720"/>
                    <a:pt x="6569947" y="0"/>
                    <a:pt x="6651239" y="0"/>
                  </a:cubicBezTo>
                  <a:close/>
                  <a:moveTo>
                    <a:pt x="7242461" y="0"/>
                  </a:moveTo>
                  <a:cubicBezTo>
                    <a:pt x="7323753" y="0"/>
                    <a:pt x="7390266" y="45720"/>
                    <a:pt x="7390266" y="101600"/>
                  </a:cubicBezTo>
                  <a:cubicBezTo>
                    <a:pt x="7390266" y="157480"/>
                    <a:pt x="7323753" y="203200"/>
                    <a:pt x="7242461" y="203200"/>
                  </a:cubicBezTo>
                  <a:cubicBezTo>
                    <a:pt x="7161168" y="203200"/>
                    <a:pt x="7094656" y="157480"/>
                    <a:pt x="7094656" y="101600"/>
                  </a:cubicBezTo>
                  <a:cubicBezTo>
                    <a:pt x="7094656" y="45720"/>
                    <a:pt x="7161168" y="0"/>
                    <a:pt x="7242461" y="0"/>
                  </a:cubicBezTo>
                  <a:close/>
                  <a:moveTo>
                    <a:pt x="7833682" y="0"/>
                  </a:moveTo>
                  <a:cubicBezTo>
                    <a:pt x="7914975" y="0"/>
                    <a:pt x="7981488" y="45720"/>
                    <a:pt x="7981488" y="101600"/>
                  </a:cubicBezTo>
                  <a:cubicBezTo>
                    <a:pt x="7981488" y="157480"/>
                    <a:pt x="7914975" y="203200"/>
                    <a:pt x="7833682" y="203200"/>
                  </a:cubicBezTo>
                  <a:cubicBezTo>
                    <a:pt x="7752389" y="203200"/>
                    <a:pt x="7685877" y="157480"/>
                    <a:pt x="7685877" y="101600"/>
                  </a:cubicBezTo>
                  <a:cubicBezTo>
                    <a:pt x="7685877" y="45720"/>
                    <a:pt x="7752389" y="0"/>
                    <a:pt x="7833682" y="0"/>
                  </a:cubicBezTo>
                  <a:close/>
                  <a:moveTo>
                    <a:pt x="8424903" y="0"/>
                  </a:moveTo>
                  <a:cubicBezTo>
                    <a:pt x="8506197" y="0"/>
                    <a:pt x="8572709" y="45720"/>
                    <a:pt x="8572709" y="101600"/>
                  </a:cubicBezTo>
                  <a:cubicBezTo>
                    <a:pt x="8572709" y="157480"/>
                    <a:pt x="8506197" y="203200"/>
                    <a:pt x="8424903" y="203200"/>
                  </a:cubicBezTo>
                  <a:cubicBezTo>
                    <a:pt x="8343610" y="203200"/>
                    <a:pt x="8277098" y="157480"/>
                    <a:pt x="8277098" y="101600"/>
                  </a:cubicBezTo>
                  <a:cubicBezTo>
                    <a:pt x="8277098" y="45720"/>
                    <a:pt x="8343610" y="0"/>
                    <a:pt x="8424903" y="0"/>
                  </a:cubicBezTo>
                  <a:close/>
                  <a:moveTo>
                    <a:pt x="9016124" y="0"/>
                  </a:moveTo>
                  <a:cubicBezTo>
                    <a:pt x="9097418" y="0"/>
                    <a:pt x="9163930" y="45720"/>
                    <a:pt x="9163930" y="101600"/>
                  </a:cubicBezTo>
                  <a:cubicBezTo>
                    <a:pt x="9163930" y="157480"/>
                    <a:pt x="9097418" y="203200"/>
                    <a:pt x="9016124" y="203200"/>
                  </a:cubicBezTo>
                  <a:cubicBezTo>
                    <a:pt x="8934832" y="203200"/>
                    <a:pt x="8868320" y="157480"/>
                    <a:pt x="8868320" y="101600"/>
                  </a:cubicBezTo>
                  <a:cubicBezTo>
                    <a:pt x="8868320" y="45720"/>
                    <a:pt x="8934832" y="0"/>
                    <a:pt x="9016124" y="0"/>
                  </a:cubicBezTo>
                  <a:close/>
                  <a:moveTo>
                    <a:pt x="9607346" y="0"/>
                  </a:moveTo>
                  <a:cubicBezTo>
                    <a:pt x="9688639" y="0"/>
                    <a:pt x="9755151" y="45720"/>
                    <a:pt x="9755151" y="101600"/>
                  </a:cubicBezTo>
                  <a:cubicBezTo>
                    <a:pt x="9755151" y="157480"/>
                    <a:pt x="9688639" y="203200"/>
                    <a:pt x="9607346" y="203200"/>
                  </a:cubicBezTo>
                  <a:cubicBezTo>
                    <a:pt x="9526053" y="203200"/>
                    <a:pt x="9459541" y="157480"/>
                    <a:pt x="9459541" y="101600"/>
                  </a:cubicBezTo>
                  <a:cubicBezTo>
                    <a:pt x="9459541" y="45720"/>
                    <a:pt x="9526053" y="0"/>
                    <a:pt x="9607346" y="0"/>
                  </a:cubicBezTo>
                  <a:close/>
                  <a:moveTo>
                    <a:pt x="10198567" y="0"/>
                  </a:moveTo>
                  <a:cubicBezTo>
                    <a:pt x="10279860" y="0"/>
                    <a:pt x="10346373" y="45720"/>
                    <a:pt x="10346373" y="101600"/>
                  </a:cubicBezTo>
                  <a:cubicBezTo>
                    <a:pt x="10346373" y="157480"/>
                    <a:pt x="10279860" y="203200"/>
                    <a:pt x="10198567" y="203200"/>
                  </a:cubicBezTo>
                  <a:cubicBezTo>
                    <a:pt x="10117274" y="203200"/>
                    <a:pt x="10050762" y="157480"/>
                    <a:pt x="10050762" y="101600"/>
                  </a:cubicBezTo>
                  <a:cubicBezTo>
                    <a:pt x="10050762" y="45720"/>
                    <a:pt x="10117274" y="0"/>
                    <a:pt x="10198567" y="0"/>
                  </a:cubicBezTo>
                  <a:close/>
                  <a:moveTo>
                    <a:pt x="10789788" y="0"/>
                  </a:moveTo>
                  <a:cubicBezTo>
                    <a:pt x="10871082" y="0"/>
                    <a:pt x="10937594" y="45720"/>
                    <a:pt x="10937594" y="101600"/>
                  </a:cubicBezTo>
                  <a:cubicBezTo>
                    <a:pt x="10937594" y="157480"/>
                    <a:pt x="10871082" y="203200"/>
                    <a:pt x="10789788" y="203200"/>
                  </a:cubicBezTo>
                  <a:cubicBezTo>
                    <a:pt x="10708496" y="203200"/>
                    <a:pt x="10641983" y="157480"/>
                    <a:pt x="10641983" y="101600"/>
                  </a:cubicBezTo>
                  <a:cubicBezTo>
                    <a:pt x="10641983" y="45720"/>
                    <a:pt x="10708496" y="0"/>
                    <a:pt x="10789788" y="0"/>
                  </a:cubicBezTo>
                  <a:close/>
                  <a:moveTo>
                    <a:pt x="11381010" y="0"/>
                  </a:moveTo>
                  <a:cubicBezTo>
                    <a:pt x="11462303" y="0"/>
                    <a:pt x="11528815" y="45720"/>
                    <a:pt x="11528815" y="101600"/>
                  </a:cubicBezTo>
                  <a:cubicBezTo>
                    <a:pt x="11528815" y="157480"/>
                    <a:pt x="11462303" y="203200"/>
                    <a:pt x="11381010" y="203200"/>
                  </a:cubicBezTo>
                  <a:cubicBezTo>
                    <a:pt x="11299717" y="203200"/>
                    <a:pt x="11233205" y="157480"/>
                    <a:pt x="11233205" y="101600"/>
                  </a:cubicBezTo>
                  <a:cubicBezTo>
                    <a:pt x="11233205" y="45720"/>
                    <a:pt x="11299717" y="0"/>
                    <a:pt x="11381010" y="0"/>
                  </a:cubicBezTo>
                  <a:close/>
                  <a:moveTo>
                    <a:pt x="11972231" y="0"/>
                  </a:moveTo>
                  <a:cubicBezTo>
                    <a:pt x="12053524" y="0"/>
                    <a:pt x="12120037" y="45720"/>
                    <a:pt x="12120037" y="101600"/>
                  </a:cubicBezTo>
                  <a:cubicBezTo>
                    <a:pt x="12120037" y="157480"/>
                    <a:pt x="12053524" y="203200"/>
                    <a:pt x="11972231" y="203200"/>
                  </a:cubicBezTo>
                  <a:cubicBezTo>
                    <a:pt x="11890938" y="203200"/>
                    <a:pt x="11824426" y="157480"/>
                    <a:pt x="11824426" y="101600"/>
                  </a:cubicBezTo>
                  <a:cubicBezTo>
                    <a:pt x="11824426" y="45720"/>
                    <a:pt x="11890938" y="0"/>
                    <a:pt x="11972231" y="0"/>
                  </a:cubicBezTo>
                  <a:close/>
                </a:path>
              </a:pathLst>
            </a:custGeom>
            <a:solidFill>
              <a:srgbClr val="20202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3363827" y="1028700"/>
            <a:ext cx="5453349" cy="4114800"/>
          </a:xfrm>
          <a:custGeom>
            <a:avLst/>
            <a:gdLst/>
            <a:ahLst/>
            <a:cxnLst/>
            <a:rect r="r" b="b" t="t" l="l"/>
            <a:pathLst>
              <a:path h="4114800" w="5453349">
                <a:moveTo>
                  <a:pt x="0" y="0"/>
                </a:moveTo>
                <a:lnTo>
                  <a:pt x="5453349" y="0"/>
                </a:lnTo>
                <a:lnTo>
                  <a:pt x="54533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693545" y="4686724"/>
            <a:ext cx="4401387" cy="1268100"/>
            <a:chOff x="0" y="0"/>
            <a:chExt cx="5868515" cy="16908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00741"/>
              <a:ext cx="5868515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spc="79" b="true">
                  <a:solidFill>
                    <a:srgbClr val="20202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42,204 × 341,039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8100"/>
              <a:ext cx="5277425" cy="466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5"/>
                </a:lnSpc>
              </a:pPr>
              <a:r>
                <a:rPr lang="en-US" sz="2525" b="true">
                  <a:solidFill>
                    <a:srgbClr val="20202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Matrix</a:t>
              </a:r>
              <a:r>
                <a:rPr lang="en-US" sz="2525" b="true">
                  <a:solidFill>
                    <a:srgbClr val="20202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shape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98005" y="4686724"/>
            <a:ext cx="2593945" cy="1268100"/>
            <a:chOff x="0" y="0"/>
            <a:chExt cx="3458593" cy="16908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00741"/>
              <a:ext cx="3458593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 spc="79">
                  <a:solidFill>
                    <a:srgbClr val="20202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99.96%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8100"/>
              <a:ext cx="3303574" cy="466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5"/>
                </a:lnSpc>
              </a:pPr>
              <a:r>
                <a:rPr lang="en-US" sz="2525" b="true">
                  <a:solidFill>
                    <a:srgbClr val="20202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Sp</a:t>
              </a:r>
              <a:r>
                <a:rPr lang="en-US" sz="2525" b="true">
                  <a:solidFill>
                    <a:srgbClr val="20202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arsity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4. TEXT REPRESENTATION (TF-IDF)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93150" y="4686724"/>
            <a:ext cx="2797687" cy="1268100"/>
            <a:chOff x="0" y="0"/>
            <a:chExt cx="3730250" cy="16908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800741"/>
              <a:ext cx="3730250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 spc="79">
                  <a:solidFill>
                    <a:srgbClr val="20202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6,470,623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8100"/>
              <a:ext cx="3563055" cy="466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5"/>
                </a:lnSpc>
              </a:pPr>
              <a:r>
                <a:rPr lang="en-US" sz="2525" b="true">
                  <a:solidFill>
                    <a:srgbClr val="20202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Non-zeros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6827444" y="5208324"/>
            <a:ext cx="3620873" cy="224900"/>
            <a:chOff x="0" y="0"/>
            <a:chExt cx="9194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65079" y="304800"/>
              <a:ext cx="12120036" cy="203200"/>
            </a:xfrm>
            <a:custGeom>
              <a:avLst/>
              <a:gdLst/>
              <a:ahLst/>
              <a:cxnLst/>
              <a:rect r="r" b="b" t="t" l="l"/>
              <a:pathLst>
                <a:path h="203200" w="12120036">
                  <a:moveTo>
                    <a:pt x="147805" y="0"/>
                  </a:moveTo>
                  <a:cubicBezTo>
                    <a:pt x="229098" y="0"/>
                    <a:pt x="295611" y="45720"/>
                    <a:pt x="295611" y="101600"/>
                  </a:cubicBezTo>
                  <a:cubicBezTo>
                    <a:pt x="295611" y="157480"/>
                    <a:pt x="229098" y="203200"/>
                    <a:pt x="147805" y="203200"/>
                  </a:cubicBezTo>
                  <a:cubicBezTo>
                    <a:pt x="66513" y="203200"/>
                    <a:pt x="0" y="157480"/>
                    <a:pt x="0" y="101600"/>
                  </a:cubicBezTo>
                  <a:cubicBezTo>
                    <a:pt x="0" y="45720"/>
                    <a:pt x="66513" y="0"/>
                    <a:pt x="147805" y="0"/>
                  </a:cubicBezTo>
                  <a:close/>
                  <a:moveTo>
                    <a:pt x="739027" y="0"/>
                  </a:moveTo>
                  <a:cubicBezTo>
                    <a:pt x="820320" y="0"/>
                    <a:pt x="886832" y="45720"/>
                    <a:pt x="886832" y="101600"/>
                  </a:cubicBezTo>
                  <a:cubicBezTo>
                    <a:pt x="886832" y="157480"/>
                    <a:pt x="820320" y="203200"/>
                    <a:pt x="739027" y="203200"/>
                  </a:cubicBezTo>
                  <a:cubicBezTo>
                    <a:pt x="657734" y="203200"/>
                    <a:pt x="591221" y="157480"/>
                    <a:pt x="591221" y="101600"/>
                  </a:cubicBezTo>
                  <a:cubicBezTo>
                    <a:pt x="591221" y="45720"/>
                    <a:pt x="657734" y="0"/>
                    <a:pt x="739027" y="0"/>
                  </a:cubicBezTo>
                  <a:close/>
                  <a:moveTo>
                    <a:pt x="1330248" y="0"/>
                  </a:moveTo>
                  <a:cubicBezTo>
                    <a:pt x="1411541" y="0"/>
                    <a:pt x="1478053" y="45720"/>
                    <a:pt x="1478053" y="101600"/>
                  </a:cubicBezTo>
                  <a:cubicBezTo>
                    <a:pt x="1478053" y="157480"/>
                    <a:pt x="1411541" y="203200"/>
                    <a:pt x="1330248" y="203200"/>
                  </a:cubicBezTo>
                  <a:cubicBezTo>
                    <a:pt x="1248955" y="203200"/>
                    <a:pt x="1182443" y="157480"/>
                    <a:pt x="1182443" y="101600"/>
                  </a:cubicBezTo>
                  <a:cubicBezTo>
                    <a:pt x="1182443" y="45720"/>
                    <a:pt x="1248955" y="0"/>
                    <a:pt x="1330248" y="0"/>
                  </a:cubicBezTo>
                  <a:close/>
                  <a:moveTo>
                    <a:pt x="1921469" y="0"/>
                  </a:moveTo>
                  <a:cubicBezTo>
                    <a:pt x="2002762" y="0"/>
                    <a:pt x="2069275" y="45720"/>
                    <a:pt x="2069275" y="101600"/>
                  </a:cubicBezTo>
                  <a:cubicBezTo>
                    <a:pt x="2069275" y="157480"/>
                    <a:pt x="2002762" y="203200"/>
                    <a:pt x="1921469" y="203200"/>
                  </a:cubicBezTo>
                  <a:cubicBezTo>
                    <a:pt x="1840177" y="203200"/>
                    <a:pt x="1773664" y="157480"/>
                    <a:pt x="1773664" y="101600"/>
                  </a:cubicBezTo>
                  <a:cubicBezTo>
                    <a:pt x="1773664" y="45720"/>
                    <a:pt x="1840177" y="0"/>
                    <a:pt x="1921469" y="0"/>
                  </a:cubicBezTo>
                  <a:close/>
                  <a:moveTo>
                    <a:pt x="2512691" y="0"/>
                  </a:moveTo>
                  <a:cubicBezTo>
                    <a:pt x="2593984" y="0"/>
                    <a:pt x="2660496" y="45720"/>
                    <a:pt x="2660496" y="101600"/>
                  </a:cubicBezTo>
                  <a:cubicBezTo>
                    <a:pt x="2660496" y="157480"/>
                    <a:pt x="2593984" y="203200"/>
                    <a:pt x="2512691" y="203200"/>
                  </a:cubicBezTo>
                  <a:cubicBezTo>
                    <a:pt x="2431398" y="203200"/>
                    <a:pt x="2364885" y="157480"/>
                    <a:pt x="2364885" y="101600"/>
                  </a:cubicBezTo>
                  <a:cubicBezTo>
                    <a:pt x="2364885" y="45720"/>
                    <a:pt x="2431398" y="0"/>
                    <a:pt x="2512691" y="0"/>
                  </a:cubicBezTo>
                  <a:close/>
                  <a:moveTo>
                    <a:pt x="3103912" y="0"/>
                  </a:moveTo>
                  <a:cubicBezTo>
                    <a:pt x="3185205" y="0"/>
                    <a:pt x="3251717" y="45720"/>
                    <a:pt x="3251717" y="101600"/>
                  </a:cubicBezTo>
                  <a:cubicBezTo>
                    <a:pt x="3251717" y="157480"/>
                    <a:pt x="3185205" y="203200"/>
                    <a:pt x="3103912" y="203200"/>
                  </a:cubicBezTo>
                  <a:cubicBezTo>
                    <a:pt x="3022619" y="203200"/>
                    <a:pt x="2956107" y="157480"/>
                    <a:pt x="2956107" y="101600"/>
                  </a:cubicBezTo>
                  <a:cubicBezTo>
                    <a:pt x="2956107" y="45720"/>
                    <a:pt x="3022619" y="0"/>
                    <a:pt x="3103912" y="0"/>
                  </a:cubicBezTo>
                  <a:close/>
                  <a:moveTo>
                    <a:pt x="3695133" y="0"/>
                  </a:moveTo>
                  <a:cubicBezTo>
                    <a:pt x="3776426" y="0"/>
                    <a:pt x="3842939" y="45720"/>
                    <a:pt x="3842939" y="101600"/>
                  </a:cubicBezTo>
                  <a:cubicBezTo>
                    <a:pt x="3842939" y="157480"/>
                    <a:pt x="3776426" y="203200"/>
                    <a:pt x="3695133" y="203200"/>
                  </a:cubicBezTo>
                  <a:cubicBezTo>
                    <a:pt x="3613840" y="203200"/>
                    <a:pt x="3547328" y="157480"/>
                    <a:pt x="3547328" y="101600"/>
                  </a:cubicBezTo>
                  <a:cubicBezTo>
                    <a:pt x="3547328" y="45720"/>
                    <a:pt x="3613840" y="0"/>
                    <a:pt x="3695133" y="0"/>
                  </a:cubicBezTo>
                  <a:close/>
                  <a:moveTo>
                    <a:pt x="4286355" y="0"/>
                  </a:moveTo>
                  <a:cubicBezTo>
                    <a:pt x="4367647" y="0"/>
                    <a:pt x="4434160" y="45720"/>
                    <a:pt x="4434160" y="101600"/>
                  </a:cubicBezTo>
                  <a:cubicBezTo>
                    <a:pt x="4434160" y="157480"/>
                    <a:pt x="4367647" y="203200"/>
                    <a:pt x="4286355" y="203200"/>
                  </a:cubicBezTo>
                  <a:cubicBezTo>
                    <a:pt x="4205062" y="203200"/>
                    <a:pt x="4138549" y="157480"/>
                    <a:pt x="4138549" y="101600"/>
                  </a:cubicBezTo>
                  <a:cubicBezTo>
                    <a:pt x="4138549" y="45720"/>
                    <a:pt x="4205062" y="0"/>
                    <a:pt x="4286355" y="0"/>
                  </a:cubicBezTo>
                  <a:close/>
                  <a:moveTo>
                    <a:pt x="4877576" y="0"/>
                  </a:moveTo>
                  <a:cubicBezTo>
                    <a:pt x="4958869" y="0"/>
                    <a:pt x="5025381" y="45720"/>
                    <a:pt x="5025381" y="101600"/>
                  </a:cubicBezTo>
                  <a:cubicBezTo>
                    <a:pt x="5025381" y="157480"/>
                    <a:pt x="4958869" y="203200"/>
                    <a:pt x="4877576" y="203200"/>
                  </a:cubicBezTo>
                  <a:cubicBezTo>
                    <a:pt x="4796283" y="203200"/>
                    <a:pt x="4729771" y="157480"/>
                    <a:pt x="4729771" y="101600"/>
                  </a:cubicBezTo>
                  <a:cubicBezTo>
                    <a:pt x="4729771" y="45720"/>
                    <a:pt x="4796283" y="0"/>
                    <a:pt x="4877576" y="0"/>
                  </a:cubicBezTo>
                  <a:close/>
                  <a:moveTo>
                    <a:pt x="5468797" y="0"/>
                  </a:moveTo>
                  <a:cubicBezTo>
                    <a:pt x="5550090" y="0"/>
                    <a:pt x="5616602" y="45720"/>
                    <a:pt x="5616602" y="101600"/>
                  </a:cubicBezTo>
                  <a:cubicBezTo>
                    <a:pt x="5616602" y="157480"/>
                    <a:pt x="5550090" y="203200"/>
                    <a:pt x="5468797" y="203200"/>
                  </a:cubicBezTo>
                  <a:cubicBezTo>
                    <a:pt x="5387504" y="203200"/>
                    <a:pt x="5320992" y="157480"/>
                    <a:pt x="5320992" y="101600"/>
                  </a:cubicBezTo>
                  <a:cubicBezTo>
                    <a:pt x="5320992" y="45720"/>
                    <a:pt x="5387504" y="0"/>
                    <a:pt x="5468797" y="0"/>
                  </a:cubicBezTo>
                  <a:close/>
                  <a:moveTo>
                    <a:pt x="6060018" y="0"/>
                  </a:moveTo>
                  <a:cubicBezTo>
                    <a:pt x="6141311" y="0"/>
                    <a:pt x="6207824" y="45720"/>
                    <a:pt x="6207824" y="101600"/>
                  </a:cubicBezTo>
                  <a:cubicBezTo>
                    <a:pt x="6207824" y="157480"/>
                    <a:pt x="6141311" y="203200"/>
                    <a:pt x="6060018" y="203200"/>
                  </a:cubicBezTo>
                  <a:cubicBezTo>
                    <a:pt x="5978725" y="203200"/>
                    <a:pt x="5912213" y="157480"/>
                    <a:pt x="5912213" y="101600"/>
                  </a:cubicBezTo>
                  <a:cubicBezTo>
                    <a:pt x="5912213" y="45720"/>
                    <a:pt x="5978725" y="0"/>
                    <a:pt x="6060018" y="0"/>
                  </a:cubicBezTo>
                  <a:close/>
                  <a:moveTo>
                    <a:pt x="6651239" y="0"/>
                  </a:moveTo>
                  <a:cubicBezTo>
                    <a:pt x="6732532" y="0"/>
                    <a:pt x="6799045" y="45720"/>
                    <a:pt x="6799045" y="101600"/>
                  </a:cubicBezTo>
                  <a:cubicBezTo>
                    <a:pt x="6799045" y="157480"/>
                    <a:pt x="6732532" y="203200"/>
                    <a:pt x="6651239" y="203200"/>
                  </a:cubicBezTo>
                  <a:cubicBezTo>
                    <a:pt x="6569947" y="203200"/>
                    <a:pt x="6503434" y="157480"/>
                    <a:pt x="6503434" y="101600"/>
                  </a:cubicBezTo>
                  <a:cubicBezTo>
                    <a:pt x="6503434" y="45720"/>
                    <a:pt x="6569947" y="0"/>
                    <a:pt x="6651239" y="0"/>
                  </a:cubicBezTo>
                  <a:close/>
                  <a:moveTo>
                    <a:pt x="7242461" y="0"/>
                  </a:moveTo>
                  <a:cubicBezTo>
                    <a:pt x="7323753" y="0"/>
                    <a:pt x="7390266" y="45720"/>
                    <a:pt x="7390266" y="101600"/>
                  </a:cubicBezTo>
                  <a:cubicBezTo>
                    <a:pt x="7390266" y="157480"/>
                    <a:pt x="7323753" y="203200"/>
                    <a:pt x="7242461" y="203200"/>
                  </a:cubicBezTo>
                  <a:cubicBezTo>
                    <a:pt x="7161168" y="203200"/>
                    <a:pt x="7094656" y="157480"/>
                    <a:pt x="7094656" y="101600"/>
                  </a:cubicBezTo>
                  <a:cubicBezTo>
                    <a:pt x="7094656" y="45720"/>
                    <a:pt x="7161168" y="0"/>
                    <a:pt x="7242461" y="0"/>
                  </a:cubicBezTo>
                  <a:close/>
                  <a:moveTo>
                    <a:pt x="7833682" y="0"/>
                  </a:moveTo>
                  <a:cubicBezTo>
                    <a:pt x="7914975" y="0"/>
                    <a:pt x="7981488" y="45720"/>
                    <a:pt x="7981488" y="101600"/>
                  </a:cubicBezTo>
                  <a:cubicBezTo>
                    <a:pt x="7981488" y="157480"/>
                    <a:pt x="7914975" y="203200"/>
                    <a:pt x="7833682" y="203200"/>
                  </a:cubicBezTo>
                  <a:cubicBezTo>
                    <a:pt x="7752389" y="203200"/>
                    <a:pt x="7685877" y="157480"/>
                    <a:pt x="7685877" y="101600"/>
                  </a:cubicBezTo>
                  <a:cubicBezTo>
                    <a:pt x="7685877" y="45720"/>
                    <a:pt x="7752389" y="0"/>
                    <a:pt x="7833682" y="0"/>
                  </a:cubicBezTo>
                  <a:close/>
                  <a:moveTo>
                    <a:pt x="8424903" y="0"/>
                  </a:moveTo>
                  <a:cubicBezTo>
                    <a:pt x="8506197" y="0"/>
                    <a:pt x="8572709" y="45720"/>
                    <a:pt x="8572709" y="101600"/>
                  </a:cubicBezTo>
                  <a:cubicBezTo>
                    <a:pt x="8572709" y="157480"/>
                    <a:pt x="8506197" y="203200"/>
                    <a:pt x="8424903" y="203200"/>
                  </a:cubicBezTo>
                  <a:cubicBezTo>
                    <a:pt x="8343610" y="203200"/>
                    <a:pt x="8277098" y="157480"/>
                    <a:pt x="8277098" y="101600"/>
                  </a:cubicBezTo>
                  <a:cubicBezTo>
                    <a:pt x="8277098" y="45720"/>
                    <a:pt x="8343610" y="0"/>
                    <a:pt x="8424903" y="0"/>
                  </a:cubicBezTo>
                  <a:close/>
                  <a:moveTo>
                    <a:pt x="9016124" y="0"/>
                  </a:moveTo>
                  <a:cubicBezTo>
                    <a:pt x="9097418" y="0"/>
                    <a:pt x="9163930" y="45720"/>
                    <a:pt x="9163930" y="101600"/>
                  </a:cubicBezTo>
                  <a:cubicBezTo>
                    <a:pt x="9163930" y="157480"/>
                    <a:pt x="9097418" y="203200"/>
                    <a:pt x="9016124" y="203200"/>
                  </a:cubicBezTo>
                  <a:cubicBezTo>
                    <a:pt x="8934832" y="203200"/>
                    <a:pt x="8868320" y="157480"/>
                    <a:pt x="8868320" y="101600"/>
                  </a:cubicBezTo>
                  <a:cubicBezTo>
                    <a:pt x="8868320" y="45720"/>
                    <a:pt x="8934832" y="0"/>
                    <a:pt x="9016124" y="0"/>
                  </a:cubicBezTo>
                  <a:close/>
                  <a:moveTo>
                    <a:pt x="9607346" y="0"/>
                  </a:moveTo>
                  <a:cubicBezTo>
                    <a:pt x="9688639" y="0"/>
                    <a:pt x="9755151" y="45720"/>
                    <a:pt x="9755151" y="101600"/>
                  </a:cubicBezTo>
                  <a:cubicBezTo>
                    <a:pt x="9755151" y="157480"/>
                    <a:pt x="9688639" y="203200"/>
                    <a:pt x="9607346" y="203200"/>
                  </a:cubicBezTo>
                  <a:cubicBezTo>
                    <a:pt x="9526053" y="203200"/>
                    <a:pt x="9459541" y="157480"/>
                    <a:pt x="9459541" y="101600"/>
                  </a:cubicBezTo>
                  <a:cubicBezTo>
                    <a:pt x="9459541" y="45720"/>
                    <a:pt x="9526053" y="0"/>
                    <a:pt x="9607346" y="0"/>
                  </a:cubicBezTo>
                  <a:close/>
                  <a:moveTo>
                    <a:pt x="10198567" y="0"/>
                  </a:moveTo>
                  <a:cubicBezTo>
                    <a:pt x="10279860" y="0"/>
                    <a:pt x="10346373" y="45720"/>
                    <a:pt x="10346373" y="101600"/>
                  </a:cubicBezTo>
                  <a:cubicBezTo>
                    <a:pt x="10346373" y="157480"/>
                    <a:pt x="10279860" y="203200"/>
                    <a:pt x="10198567" y="203200"/>
                  </a:cubicBezTo>
                  <a:cubicBezTo>
                    <a:pt x="10117274" y="203200"/>
                    <a:pt x="10050762" y="157480"/>
                    <a:pt x="10050762" y="101600"/>
                  </a:cubicBezTo>
                  <a:cubicBezTo>
                    <a:pt x="10050762" y="45720"/>
                    <a:pt x="10117274" y="0"/>
                    <a:pt x="10198567" y="0"/>
                  </a:cubicBezTo>
                  <a:close/>
                  <a:moveTo>
                    <a:pt x="10789788" y="0"/>
                  </a:moveTo>
                  <a:cubicBezTo>
                    <a:pt x="10871082" y="0"/>
                    <a:pt x="10937594" y="45720"/>
                    <a:pt x="10937594" y="101600"/>
                  </a:cubicBezTo>
                  <a:cubicBezTo>
                    <a:pt x="10937594" y="157480"/>
                    <a:pt x="10871082" y="203200"/>
                    <a:pt x="10789788" y="203200"/>
                  </a:cubicBezTo>
                  <a:cubicBezTo>
                    <a:pt x="10708496" y="203200"/>
                    <a:pt x="10641983" y="157480"/>
                    <a:pt x="10641983" y="101600"/>
                  </a:cubicBezTo>
                  <a:cubicBezTo>
                    <a:pt x="10641983" y="45720"/>
                    <a:pt x="10708496" y="0"/>
                    <a:pt x="10789788" y="0"/>
                  </a:cubicBezTo>
                  <a:close/>
                  <a:moveTo>
                    <a:pt x="11381010" y="0"/>
                  </a:moveTo>
                  <a:cubicBezTo>
                    <a:pt x="11462303" y="0"/>
                    <a:pt x="11528815" y="45720"/>
                    <a:pt x="11528815" y="101600"/>
                  </a:cubicBezTo>
                  <a:cubicBezTo>
                    <a:pt x="11528815" y="157480"/>
                    <a:pt x="11462303" y="203200"/>
                    <a:pt x="11381010" y="203200"/>
                  </a:cubicBezTo>
                  <a:cubicBezTo>
                    <a:pt x="11299717" y="203200"/>
                    <a:pt x="11233205" y="157480"/>
                    <a:pt x="11233205" y="101600"/>
                  </a:cubicBezTo>
                  <a:cubicBezTo>
                    <a:pt x="11233205" y="45720"/>
                    <a:pt x="11299717" y="0"/>
                    <a:pt x="11381010" y="0"/>
                  </a:cubicBezTo>
                  <a:close/>
                  <a:moveTo>
                    <a:pt x="11972231" y="0"/>
                  </a:moveTo>
                  <a:cubicBezTo>
                    <a:pt x="12053524" y="0"/>
                    <a:pt x="12120037" y="45720"/>
                    <a:pt x="12120037" y="101600"/>
                  </a:cubicBezTo>
                  <a:cubicBezTo>
                    <a:pt x="12120037" y="157480"/>
                    <a:pt x="12053524" y="203200"/>
                    <a:pt x="11972231" y="203200"/>
                  </a:cubicBezTo>
                  <a:cubicBezTo>
                    <a:pt x="11890938" y="203200"/>
                    <a:pt x="11824426" y="157480"/>
                    <a:pt x="11824426" y="101600"/>
                  </a:cubicBezTo>
                  <a:cubicBezTo>
                    <a:pt x="11824426" y="45720"/>
                    <a:pt x="11890938" y="0"/>
                    <a:pt x="11972231" y="0"/>
                  </a:cubicBezTo>
                  <a:close/>
                </a:path>
              </a:pathLst>
            </a:custGeom>
            <a:solidFill>
              <a:srgbClr val="202020"/>
            </a:solid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63827" y="1028700"/>
            <a:ext cx="5453349" cy="4114800"/>
          </a:xfrm>
          <a:custGeom>
            <a:avLst/>
            <a:gdLst/>
            <a:ahLst/>
            <a:cxnLst/>
            <a:rect r="r" b="b" t="t" l="l"/>
            <a:pathLst>
              <a:path h="4114800" w="5453349">
                <a:moveTo>
                  <a:pt x="0" y="0"/>
                </a:moveTo>
                <a:lnTo>
                  <a:pt x="5453349" y="0"/>
                </a:lnTo>
                <a:lnTo>
                  <a:pt x="54533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3736741"/>
            <a:ext cx="11301259" cy="5693009"/>
          </a:xfrm>
          <a:custGeom>
            <a:avLst/>
            <a:gdLst/>
            <a:ahLst/>
            <a:cxnLst/>
            <a:rect r="r" b="b" t="t" l="l"/>
            <a:pathLst>
              <a:path h="5693009" w="11301259">
                <a:moveTo>
                  <a:pt x="0" y="0"/>
                </a:moveTo>
                <a:lnTo>
                  <a:pt x="11301258" y="0"/>
                </a:lnTo>
                <a:lnTo>
                  <a:pt x="11301258" y="5693009"/>
                </a:lnTo>
                <a:lnTo>
                  <a:pt x="0" y="56930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83906" y="2006805"/>
            <a:ext cx="11263038" cy="1236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0"/>
              </a:lnSpc>
            </a:pPr>
            <a:r>
              <a:rPr lang="en-US" b="true" sz="4400" spc="-22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 25 Terms by Average TF-IDF Weight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4. TEXT REPRESENTATION (TF-IDF)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63827" y="1028700"/>
            <a:ext cx="5453349" cy="4114800"/>
          </a:xfrm>
          <a:custGeom>
            <a:avLst/>
            <a:gdLst/>
            <a:ahLst/>
            <a:cxnLst/>
            <a:rect r="r" b="b" t="t" l="l"/>
            <a:pathLst>
              <a:path h="4114800" w="5453349">
                <a:moveTo>
                  <a:pt x="0" y="0"/>
                </a:moveTo>
                <a:lnTo>
                  <a:pt x="5453349" y="0"/>
                </a:lnTo>
                <a:lnTo>
                  <a:pt x="54533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3359162" y="3314700"/>
          <a:ext cx="3771900" cy="6286500"/>
        </p:xfrm>
        <a:graphic>
          <a:graphicData uri="http://schemas.openxmlformats.org/presentationml/2006/ole">
            <p:oleObj imgW="5029200" imgH="7543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4" id="4"/>
          <p:cNvGraphicFramePr/>
          <p:nvPr/>
        </p:nvGraphicFramePr>
        <p:xfrm>
          <a:off x="12344400" y="3314700"/>
          <a:ext cx="3771900" cy="6286500"/>
        </p:xfrm>
        <a:graphic>
          <a:graphicData uri="http://schemas.openxmlformats.org/presentationml/2006/ole">
            <p:oleObj imgW="5029200" imgH="7543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512481" y="1970293"/>
            <a:ext cx="11263038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6399" spc="-3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IDF Extremes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4. TEXT REPRESENTATION (TF-IDF)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6467715" y="6262716"/>
            <a:ext cx="6286500" cy="390468"/>
            <a:chOff x="0" y="0"/>
            <a:chExt cx="9194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65079" y="304800"/>
              <a:ext cx="12120036" cy="203200"/>
            </a:xfrm>
            <a:custGeom>
              <a:avLst/>
              <a:gdLst/>
              <a:ahLst/>
              <a:cxnLst/>
              <a:rect r="r" b="b" t="t" l="l"/>
              <a:pathLst>
                <a:path h="203200" w="12120036">
                  <a:moveTo>
                    <a:pt x="147805" y="0"/>
                  </a:moveTo>
                  <a:cubicBezTo>
                    <a:pt x="229098" y="0"/>
                    <a:pt x="295611" y="45720"/>
                    <a:pt x="295611" y="101600"/>
                  </a:cubicBezTo>
                  <a:cubicBezTo>
                    <a:pt x="295611" y="157480"/>
                    <a:pt x="229098" y="203200"/>
                    <a:pt x="147805" y="203200"/>
                  </a:cubicBezTo>
                  <a:cubicBezTo>
                    <a:pt x="66513" y="203200"/>
                    <a:pt x="0" y="157480"/>
                    <a:pt x="0" y="101600"/>
                  </a:cubicBezTo>
                  <a:cubicBezTo>
                    <a:pt x="0" y="45720"/>
                    <a:pt x="66513" y="0"/>
                    <a:pt x="147805" y="0"/>
                  </a:cubicBezTo>
                  <a:close/>
                  <a:moveTo>
                    <a:pt x="739027" y="0"/>
                  </a:moveTo>
                  <a:cubicBezTo>
                    <a:pt x="820320" y="0"/>
                    <a:pt x="886832" y="45720"/>
                    <a:pt x="886832" y="101600"/>
                  </a:cubicBezTo>
                  <a:cubicBezTo>
                    <a:pt x="886832" y="157480"/>
                    <a:pt x="820320" y="203200"/>
                    <a:pt x="739027" y="203200"/>
                  </a:cubicBezTo>
                  <a:cubicBezTo>
                    <a:pt x="657734" y="203200"/>
                    <a:pt x="591221" y="157480"/>
                    <a:pt x="591221" y="101600"/>
                  </a:cubicBezTo>
                  <a:cubicBezTo>
                    <a:pt x="591221" y="45720"/>
                    <a:pt x="657734" y="0"/>
                    <a:pt x="739027" y="0"/>
                  </a:cubicBezTo>
                  <a:close/>
                  <a:moveTo>
                    <a:pt x="1330248" y="0"/>
                  </a:moveTo>
                  <a:cubicBezTo>
                    <a:pt x="1411541" y="0"/>
                    <a:pt x="1478053" y="45720"/>
                    <a:pt x="1478053" y="101600"/>
                  </a:cubicBezTo>
                  <a:cubicBezTo>
                    <a:pt x="1478053" y="157480"/>
                    <a:pt x="1411541" y="203200"/>
                    <a:pt x="1330248" y="203200"/>
                  </a:cubicBezTo>
                  <a:cubicBezTo>
                    <a:pt x="1248955" y="203200"/>
                    <a:pt x="1182443" y="157480"/>
                    <a:pt x="1182443" y="101600"/>
                  </a:cubicBezTo>
                  <a:cubicBezTo>
                    <a:pt x="1182443" y="45720"/>
                    <a:pt x="1248955" y="0"/>
                    <a:pt x="1330248" y="0"/>
                  </a:cubicBezTo>
                  <a:close/>
                  <a:moveTo>
                    <a:pt x="1921469" y="0"/>
                  </a:moveTo>
                  <a:cubicBezTo>
                    <a:pt x="2002762" y="0"/>
                    <a:pt x="2069275" y="45720"/>
                    <a:pt x="2069275" y="101600"/>
                  </a:cubicBezTo>
                  <a:cubicBezTo>
                    <a:pt x="2069275" y="157480"/>
                    <a:pt x="2002762" y="203200"/>
                    <a:pt x="1921469" y="203200"/>
                  </a:cubicBezTo>
                  <a:cubicBezTo>
                    <a:pt x="1840177" y="203200"/>
                    <a:pt x="1773664" y="157480"/>
                    <a:pt x="1773664" y="101600"/>
                  </a:cubicBezTo>
                  <a:cubicBezTo>
                    <a:pt x="1773664" y="45720"/>
                    <a:pt x="1840177" y="0"/>
                    <a:pt x="1921469" y="0"/>
                  </a:cubicBezTo>
                  <a:close/>
                  <a:moveTo>
                    <a:pt x="2512691" y="0"/>
                  </a:moveTo>
                  <a:cubicBezTo>
                    <a:pt x="2593984" y="0"/>
                    <a:pt x="2660496" y="45720"/>
                    <a:pt x="2660496" y="101600"/>
                  </a:cubicBezTo>
                  <a:cubicBezTo>
                    <a:pt x="2660496" y="157480"/>
                    <a:pt x="2593984" y="203200"/>
                    <a:pt x="2512691" y="203200"/>
                  </a:cubicBezTo>
                  <a:cubicBezTo>
                    <a:pt x="2431398" y="203200"/>
                    <a:pt x="2364885" y="157480"/>
                    <a:pt x="2364885" y="101600"/>
                  </a:cubicBezTo>
                  <a:cubicBezTo>
                    <a:pt x="2364885" y="45720"/>
                    <a:pt x="2431398" y="0"/>
                    <a:pt x="2512691" y="0"/>
                  </a:cubicBezTo>
                  <a:close/>
                  <a:moveTo>
                    <a:pt x="3103912" y="0"/>
                  </a:moveTo>
                  <a:cubicBezTo>
                    <a:pt x="3185205" y="0"/>
                    <a:pt x="3251717" y="45720"/>
                    <a:pt x="3251717" y="101600"/>
                  </a:cubicBezTo>
                  <a:cubicBezTo>
                    <a:pt x="3251717" y="157480"/>
                    <a:pt x="3185205" y="203200"/>
                    <a:pt x="3103912" y="203200"/>
                  </a:cubicBezTo>
                  <a:cubicBezTo>
                    <a:pt x="3022619" y="203200"/>
                    <a:pt x="2956107" y="157480"/>
                    <a:pt x="2956107" y="101600"/>
                  </a:cubicBezTo>
                  <a:cubicBezTo>
                    <a:pt x="2956107" y="45720"/>
                    <a:pt x="3022619" y="0"/>
                    <a:pt x="3103912" y="0"/>
                  </a:cubicBezTo>
                  <a:close/>
                  <a:moveTo>
                    <a:pt x="3695133" y="0"/>
                  </a:moveTo>
                  <a:cubicBezTo>
                    <a:pt x="3776426" y="0"/>
                    <a:pt x="3842939" y="45720"/>
                    <a:pt x="3842939" y="101600"/>
                  </a:cubicBezTo>
                  <a:cubicBezTo>
                    <a:pt x="3842939" y="157480"/>
                    <a:pt x="3776426" y="203200"/>
                    <a:pt x="3695133" y="203200"/>
                  </a:cubicBezTo>
                  <a:cubicBezTo>
                    <a:pt x="3613840" y="203200"/>
                    <a:pt x="3547328" y="157480"/>
                    <a:pt x="3547328" y="101600"/>
                  </a:cubicBezTo>
                  <a:cubicBezTo>
                    <a:pt x="3547328" y="45720"/>
                    <a:pt x="3613840" y="0"/>
                    <a:pt x="3695133" y="0"/>
                  </a:cubicBezTo>
                  <a:close/>
                  <a:moveTo>
                    <a:pt x="4286355" y="0"/>
                  </a:moveTo>
                  <a:cubicBezTo>
                    <a:pt x="4367647" y="0"/>
                    <a:pt x="4434160" y="45720"/>
                    <a:pt x="4434160" y="101600"/>
                  </a:cubicBezTo>
                  <a:cubicBezTo>
                    <a:pt x="4434160" y="157480"/>
                    <a:pt x="4367647" y="203200"/>
                    <a:pt x="4286355" y="203200"/>
                  </a:cubicBezTo>
                  <a:cubicBezTo>
                    <a:pt x="4205062" y="203200"/>
                    <a:pt x="4138549" y="157480"/>
                    <a:pt x="4138549" y="101600"/>
                  </a:cubicBezTo>
                  <a:cubicBezTo>
                    <a:pt x="4138549" y="45720"/>
                    <a:pt x="4205062" y="0"/>
                    <a:pt x="4286355" y="0"/>
                  </a:cubicBezTo>
                  <a:close/>
                  <a:moveTo>
                    <a:pt x="4877576" y="0"/>
                  </a:moveTo>
                  <a:cubicBezTo>
                    <a:pt x="4958869" y="0"/>
                    <a:pt x="5025381" y="45720"/>
                    <a:pt x="5025381" y="101600"/>
                  </a:cubicBezTo>
                  <a:cubicBezTo>
                    <a:pt x="5025381" y="157480"/>
                    <a:pt x="4958869" y="203200"/>
                    <a:pt x="4877576" y="203200"/>
                  </a:cubicBezTo>
                  <a:cubicBezTo>
                    <a:pt x="4796283" y="203200"/>
                    <a:pt x="4729771" y="157480"/>
                    <a:pt x="4729771" y="101600"/>
                  </a:cubicBezTo>
                  <a:cubicBezTo>
                    <a:pt x="4729771" y="45720"/>
                    <a:pt x="4796283" y="0"/>
                    <a:pt x="4877576" y="0"/>
                  </a:cubicBezTo>
                  <a:close/>
                  <a:moveTo>
                    <a:pt x="5468797" y="0"/>
                  </a:moveTo>
                  <a:cubicBezTo>
                    <a:pt x="5550090" y="0"/>
                    <a:pt x="5616602" y="45720"/>
                    <a:pt x="5616602" y="101600"/>
                  </a:cubicBezTo>
                  <a:cubicBezTo>
                    <a:pt x="5616602" y="157480"/>
                    <a:pt x="5550090" y="203200"/>
                    <a:pt x="5468797" y="203200"/>
                  </a:cubicBezTo>
                  <a:cubicBezTo>
                    <a:pt x="5387504" y="203200"/>
                    <a:pt x="5320992" y="157480"/>
                    <a:pt x="5320992" y="101600"/>
                  </a:cubicBezTo>
                  <a:cubicBezTo>
                    <a:pt x="5320992" y="45720"/>
                    <a:pt x="5387504" y="0"/>
                    <a:pt x="5468797" y="0"/>
                  </a:cubicBezTo>
                  <a:close/>
                  <a:moveTo>
                    <a:pt x="6060018" y="0"/>
                  </a:moveTo>
                  <a:cubicBezTo>
                    <a:pt x="6141311" y="0"/>
                    <a:pt x="6207824" y="45720"/>
                    <a:pt x="6207824" y="101600"/>
                  </a:cubicBezTo>
                  <a:cubicBezTo>
                    <a:pt x="6207824" y="157480"/>
                    <a:pt x="6141311" y="203200"/>
                    <a:pt x="6060018" y="203200"/>
                  </a:cubicBezTo>
                  <a:cubicBezTo>
                    <a:pt x="5978725" y="203200"/>
                    <a:pt x="5912213" y="157480"/>
                    <a:pt x="5912213" y="101600"/>
                  </a:cubicBezTo>
                  <a:cubicBezTo>
                    <a:pt x="5912213" y="45720"/>
                    <a:pt x="5978725" y="0"/>
                    <a:pt x="6060018" y="0"/>
                  </a:cubicBezTo>
                  <a:close/>
                  <a:moveTo>
                    <a:pt x="6651239" y="0"/>
                  </a:moveTo>
                  <a:cubicBezTo>
                    <a:pt x="6732532" y="0"/>
                    <a:pt x="6799045" y="45720"/>
                    <a:pt x="6799045" y="101600"/>
                  </a:cubicBezTo>
                  <a:cubicBezTo>
                    <a:pt x="6799045" y="157480"/>
                    <a:pt x="6732532" y="203200"/>
                    <a:pt x="6651239" y="203200"/>
                  </a:cubicBezTo>
                  <a:cubicBezTo>
                    <a:pt x="6569947" y="203200"/>
                    <a:pt x="6503434" y="157480"/>
                    <a:pt x="6503434" y="101600"/>
                  </a:cubicBezTo>
                  <a:cubicBezTo>
                    <a:pt x="6503434" y="45720"/>
                    <a:pt x="6569947" y="0"/>
                    <a:pt x="6651239" y="0"/>
                  </a:cubicBezTo>
                  <a:close/>
                  <a:moveTo>
                    <a:pt x="7242461" y="0"/>
                  </a:moveTo>
                  <a:cubicBezTo>
                    <a:pt x="7323753" y="0"/>
                    <a:pt x="7390266" y="45720"/>
                    <a:pt x="7390266" y="101600"/>
                  </a:cubicBezTo>
                  <a:cubicBezTo>
                    <a:pt x="7390266" y="157480"/>
                    <a:pt x="7323753" y="203200"/>
                    <a:pt x="7242461" y="203200"/>
                  </a:cubicBezTo>
                  <a:cubicBezTo>
                    <a:pt x="7161168" y="203200"/>
                    <a:pt x="7094656" y="157480"/>
                    <a:pt x="7094656" y="101600"/>
                  </a:cubicBezTo>
                  <a:cubicBezTo>
                    <a:pt x="7094656" y="45720"/>
                    <a:pt x="7161168" y="0"/>
                    <a:pt x="7242461" y="0"/>
                  </a:cubicBezTo>
                  <a:close/>
                  <a:moveTo>
                    <a:pt x="7833682" y="0"/>
                  </a:moveTo>
                  <a:cubicBezTo>
                    <a:pt x="7914975" y="0"/>
                    <a:pt x="7981488" y="45720"/>
                    <a:pt x="7981488" y="101600"/>
                  </a:cubicBezTo>
                  <a:cubicBezTo>
                    <a:pt x="7981488" y="157480"/>
                    <a:pt x="7914975" y="203200"/>
                    <a:pt x="7833682" y="203200"/>
                  </a:cubicBezTo>
                  <a:cubicBezTo>
                    <a:pt x="7752389" y="203200"/>
                    <a:pt x="7685877" y="157480"/>
                    <a:pt x="7685877" y="101600"/>
                  </a:cubicBezTo>
                  <a:cubicBezTo>
                    <a:pt x="7685877" y="45720"/>
                    <a:pt x="7752389" y="0"/>
                    <a:pt x="7833682" y="0"/>
                  </a:cubicBezTo>
                  <a:close/>
                  <a:moveTo>
                    <a:pt x="8424903" y="0"/>
                  </a:moveTo>
                  <a:cubicBezTo>
                    <a:pt x="8506197" y="0"/>
                    <a:pt x="8572709" y="45720"/>
                    <a:pt x="8572709" y="101600"/>
                  </a:cubicBezTo>
                  <a:cubicBezTo>
                    <a:pt x="8572709" y="157480"/>
                    <a:pt x="8506197" y="203200"/>
                    <a:pt x="8424903" y="203200"/>
                  </a:cubicBezTo>
                  <a:cubicBezTo>
                    <a:pt x="8343610" y="203200"/>
                    <a:pt x="8277098" y="157480"/>
                    <a:pt x="8277098" y="101600"/>
                  </a:cubicBezTo>
                  <a:cubicBezTo>
                    <a:pt x="8277098" y="45720"/>
                    <a:pt x="8343610" y="0"/>
                    <a:pt x="8424903" y="0"/>
                  </a:cubicBezTo>
                  <a:close/>
                  <a:moveTo>
                    <a:pt x="9016124" y="0"/>
                  </a:moveTo>
                  <a:cubicBezTo>
                    <a:pt x="9097418" y="0"/>
                    <a:pt x="9163930" y="45720"/>
                    <a:pt x="9163930" y="101600"/>
                  </a:cubicBezTo>
                  <a:cubicBezTo>
                    <a:pt x="9163930" y="157480"/>
                    <a:pt x="9097418" y="203200"/>
                    <a:pt x="9016124" y="203200"/>
                  </a:cubicBezTo>
                  <a:cubicBezTo>
                    <a:pt x="8934832" y="203200"/>
                    <a:pt x="8868320" y="157480"/>
                    <a:pt x="8868320" y="101600"/>
                  </a:cubicBezTo>
                  <a:cubicBezTo>
                    <a:pt x="8868320" y="45720"/>
                    <a:pt x="8934832" y="0"/>
                    <a:pt x="9016124" y="0"/>
                  </a:cubicBezTo>
                  <a:close/>
                  <a:moveTo>
                    <a:pt x="9607346" y="0"/>
                  </a:moveTo>
                  <a:cubicBezTo>
                    <a:pt x="9688639" y="0"/>
                    <a:pt x="9755151" y="45720"/>
                    <a:pt x="9755151" y="101600"/>
                  </a:cubicBezTo>
                  <a:cubicBezTo>
                    <a:pt x="9755151" y="157480"/>
                    <a:pt x="9688639" y="203200"/>
                    <a:pt x="9607346" y="203200"/>
                  </a:cubicBezTo>
                  <a:cubicBezTo>
                    <a:pt x="9526053" y="203200"/>
                    <a:pt x="9459541" y="157480"/>
                    <a:pt x="9459541" y="101600"/>
                  </a:cubicBezTo>
                  <a:cubicBezTo>
                    <a:pt x="9459541" y="45720"/>
                    <a:pt x="9526053" y="0"/>
                    <a:pt x="9607346" y="0"/>
                  </a:cubicBezTo>
                  <a:close/>
                  <a:moveTo>
                    <a:pt x="10198567" y="0"/>
                  </a:moveTo>
                  <a:cubicBezTo>
                    <a:pt x="10279860" y="0"/>
                    <a:pt x="10346373" y="45720"/>
                    <a:pt x="10346373" y="101600"/>
                  </a:cubicBezTo>
                  <a:cubicBezTo>
                    <a:pt x="10346373" y="157480"/>
                    <a:pt x="10279860" y="203200"/>
                    <a:pt x="10198567" y="203200"/>
                  </a:cubicBezTo>
                  <a:cubicBezTo>
                    <a:pt x="10117274" y="203200"/>
                    <a:pt x="10050762" y="157480"/>
                    <a:pt x="10050762" y="101600"/>
                  </a:cubicBezTo>
                  <a:cubicBezTo>
                    <a:pt x="10050762" y="45720"/>
                    <a:pt x="10117274" y="0"/>
                    <a:pt x="10198567" y="0"/>
                  </a:cubicBezTo>
                  <a:close/>
                  <a:moveTo>
                    <a:pt x="10789788" y="0"/>
                  </a:moveTo>
                  <a:cubicBezTo>
                    <a:pt x="10871082" y="0"/>
                    <a:pt x="10937594" y="45720"/>
                    <a:pt x="10937594" y="101600"/>
                  </a:cubicBezTo>
                  <a:cubicBezTo>
                    <a:pt x="10937594" y="157480"/>
                    <a:pt x="10871082" y="203200"/>
                    <a:pt x="10789788" y="203200"/>
                  </a:cubicBezTo>
                  <a:cubicBezTo>
                    <a:pt x="10708496" y="203200"/>
                    <a:pt x="10641983" y="157480"/>
                    <a:pt x="10641983" y="101600"/>
                  </a:cubicBezTo>
                  <a:cubicBezTo>
                    <a:pt x="10641983" y="45720"/>
                    <a:pt x="10708496" y="0"/>
                    <a:pt x="10789788" y="0"/>
                  </a:cubicBezTo>
                  <a:close/>
                  <a:moveTo>
                    <a:pt x="11381010" y="0"/>
                  </a:moveTo>
                  <a:cubicBezTo>
                    <a:pt x="11462303" y="0"/>
                    <a:pt x="11528815" y="45720"/>
                    <a:pt x="11528815" y="101600"/>
                  </a:cubicBezTo>
                  <a:cubicBezTo>
                    <a:pt x="11528815" y="157480"/>
                    <a:pt x="11462303" y="203200"/>
                    <a:pt x="11381010" y="203200"/>
                  </a:cubicBezTo>
                  <a:cubicBezTo>
                    <a:pt x="11299717" y="203200"/>
                    <a:pt x="11233205" y="157480"/>
                    <a:pt x="11233205" y="101600"/>
                  </a:cubicBezTo>
                  <a:cubicBezTo>
                    <a:pt x="11233205" y="45720"/>
                    <a:pt x="11299717" y="0"/>
                    <a:pt x="11381010" y="0"/>
                  </a:cubicBezTo>
                  <a:close/>
                  <a:moveTo>
                    <a:pt x="11972231" y="0"/>
                  </a:moveTo>
                  <a:cubicBezTo>
                    <a:pt x="12053524" y="0"/>
                    <a:pt x="12120037" y="45720"/>
                    <a:pt x="12120037" y="101600"/>
                  </a:cubicBezTo>
                  <a:cubicBezTo>
                    <a:pt x="12120037" y="157480"/>
                    <a:pt x="12053524" y="203200"/>
                    <a:pt x="11972231" y="203200"/>
                  </a:cubicBezTo>
                  <a:cubicBezTo>
                    <a:pt x="11890938" y="203200"/>
                    <a:pt x="11824426" y="157480"/>
                    <a:pt x="11824426" y="101600"/>
                  </a:cubicBezTo>
                  <a:cubicBezTo>
                    <a:pt x="11824426" y="45720"/>
                    <a:pt x="11890938" y="0"/>
                    <a:pt x="11972231" y="0"/>
                  </a:cubicBezTo>
                  <a:close/>
                </a:path>
              </a:pathLst>
            </a:custGeom>
            <a:solidFill>
              <a:srgbClr val="20202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254387" y="2962854"/>
            <a:ext cx="399685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MOST DISCRIMINATING (HIGHEST IDF)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18268" y="2962854"/>
            <a:ext cx="396470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LEAST DISCRIMINATING (LOWEST IDF)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444174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1" y="0"/>
                </a:lnTo>
                <a:lnTo>
                  <a:pt x="5035531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577441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0" y="0"/>
                </a:lnTo>
                <a:lnTo>
                  <a:pt x="5035530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9599104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1" y="0"/>
                </a:lnTo>
                <a:lnTo>
                  <a:pt x="5035531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0682" y="4915862"/>
            <a:ext cx="7331263" cy="4342438"/>
            <a:chOff x="0" y="0"/>
            <a:chExt cx="1228195" cy="7274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8195" cy="727482"/>
            </a:xfrm>
            <a:custGeom>
              <a:avLst/>
              <a:gdLst/>
              <a:ahLst/>
              <a:cxnLst/>
              <a:rect r="r" b="b" t="t" l="l"/>
              <a:pathLst>
                <a:path h="727482" w="1228195">
                  <a:moveTo>
                    <a:pt x="0" y="0"/>
                  </a:moveTo>
                  <a:lnTo>
                    <a:pt x="1228195" y="0"/>
                  </a:lnTo>
                  <a:lnTo>
                    <a:pt x="1228195" y="727482"/>
                  </a:lnTo>
                  <a:lnTo>
                    <a:pt x="0" y="727482"/>
                  </a:lnTo>
                  <a:close/>
                </a:path>
              </a:pathLst>
            </a:custGeom>
            <a:solidFill>
              <a:srgbClr val="76B3D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26055" y="4915862"/>
            <a:ext cx="7331263" cy="4342438"/>
            <a:chOff x="0" y="0"/>
            <a:chExt cx="1228195" cy="727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8195" cy="727482"/>
            </a:xfrm>
            <a:custGeom>
              <a:avLst/>
              <a:gdLst/>
              <a:ahLst/>
              <a:cxnLst/>
              <a:rect r="r" b="b" t="t" l="l"/>
              <a:pathLst>
                <a:path h="727482" w="1228195">
                  <a:moveTo>
                    <a:pt x="0" y="0"/>
                  </a:moveTo>
                  <a:lnTo>
                    <a:pt x="1228195" y="0"/>
                  </a:lnTo>
                  <a:lnTo>
                    <a:pt x="1228195" y="727482"/>
                  </a:lnTo>
                  <a:lnTo>
                    <a:pt x="0" y="727482"/>
                  </a:lnTo>
                  <a:close/>
                </a:path>
              </a:pathLst>
            </a:custGeom>
            <a:solidFill>
              <a:srgbClr val="76B3D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010818" y="5276005"/>
            <a:ext cx="616173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299" spc="45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Why Truncate?</a:t>
            </a:r>
          </a:p>
        </p:txBody>
      </p:sp>
      <p:grpSp>
        <p:nvGrpSpPr>
          <p:cNvPr name="Group 10" id="10"/>
          <p:cNvGrpSpPr/>
          <p:nvPr/>
        </p:nvGrpSpPr>
        <p:grpSpPr>
          <a:xfrm rot="-5400000">
            <a:off x="7387071" y="-1394098"/>
            <a:ext cx="3467726" cy="8388682"/>
            <a:chOff x="0" y="0"/>
            <a:chExt cx="4623635" cy="111849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3635" cy="5633896"/>
            </a:xfrm>
            <a:custGeom>
              <a:avLst/>
              <a:gdLst/>
              <a:ahLst/>
              <a:cxnLst/>
              <a:rect r="r" b="b" t="t" l="l"/>
              <a:pathLst>
                <a:path h="5633896" w="4623635">
                  <a:moveTo>
                    <a:pt x="0" y="0"/>
                  </a:moveTo>
                  <a:lnTo>
                    <a:pt x="4623635" y="0"/>
                  </a:lnTo>
                  <a:lnTo>
                    <a:pt x="4623635" y="5633896"/>
                  </a:lnTo>
                  <a:lnTo>
                    <a:pt x="0" y="5633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67260" t="-37267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4971" y="5612523"/>
              <a:ext cx="4498664" cy="5572386"/>
            </a:xfrm>
            <a:custGeom>
              <a:avLst/>
              <a:gdLst/>
              <a:ahLst/>
              <a:cxnLst/>
              <a:rect r="r" b="b" t="t" l="l"/>
              <a:pathLst>
                <a:path h="5572386" w="4498664">
                  <a:moveTo>
                    <a:pt x="0" y="0"/>
                  </a:moveTo>
                  <a:lnTo>
                    <a:pt x="4498664" y="0"/>
                  </a:lnTo>
                  <a:lnTo>
                    <a:pt x="4498664" y="5572386"/>
                  </a:lnTo>
                  <a:lnTo>
                    <a:pt x="0" y="5572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71907" t="0" r="0" b="-38782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6002284" y="2219501"/>
            <a:ext cx="6283432" cy="1161483"/>
          </a:xfrm>
          <a:custGeom>
            <a:avLst/>
            <a:gdLst/>
            <a:ahLst/>
            <a:cxnLst/>
            <a:rect r="r" b="b" t="t" l="l"/>
            <a:pathLst>
              <a:path h="1161483" w="6283432">
                <a:moveTo>
                  <a:pt x="0" y="0"/>
                </a:moveTo>
                <a:lnTo>
                  <a:pt x="6283432" y="0"/>
                </a:lnTo>
                <a:lnTo>
                  <a:pt x="6283432" y="1161483"/>
                </a:lnTo>
                <a:lnTo>
                  <a:pt x="0" y="1161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14" id="14"/>
          <p:cNvGraphicFramePr/>
          <p:nvPr/>
        </p:nvGraphicFramePr>
        <p:xfrm>
          <a:off x="2367388" y="6121890"/>
          <a:ext cx="5657850" cy="2514600"/>
        </p:xfrm>
        <a:graphic>
          <a:graphicData uri="http://schemas.openxmlformats.org/presentationml/2006/ole">
            <p:oleObj imgW="6781800" imgH="3644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2115445" y="5276005"/>
            <a:ext cx="616173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299" spc="45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</a:t>
            </a:r>
            <a:r>
              <a:rPr lang="en-US" b="true" sz="2299" spc="45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he Three Matrices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27495"/>
            <a:ext cx="659766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5. CORE METHOD: SINGULAR VALUE DECOMPOSITION (SVD)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 P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HNOM PENH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01834" y="6072995"/>
            <a:ext cx="6779704" cy="271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FULL SVD CAPTURES EVERYTHING — INCLUDING NOISE.</a:t>
            </a:r>
          </a:p>
          <a:p>
            <a:pPr algn="l">
              <a:lnSpc>
                <a:spcPts val="1960"/>
              </a:lnSpc>
            </a:pP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LARGE SINGULAR VALUES → COHERENT TOPICS (HORROR, ROMANCE, ACTION)</a:t>
            </a:r>
          </a:p>
          <a:p>
            <a:pPr algn="l">
              <a:lnSpc>
                <a:spcPts val="1960"/>
              </a:lnSpc>
            </a:pP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SMALL SINGULAR VALUES → NOISE (RARE TERM COMBINATIONS, TYPOS)</a:t>
            </a:r>
          </a:p>
          <a:p>
            <a:pPr algn="l">
              <a:lnSpc>
                <a:spcPts val="1960"/>
              </a:lnSpc>
            </a:pP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TRUNCATING TO K=150K=150 REMOVES NOISE AND FORCES THE MODEL TO GENERALIZE ACROSS VOCABULARY VARIATION — THE CORE MECHANISM OF LSA.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444174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1" y="0"/>
                </a:lnTo>
                <a:lnTo>
                  <a:pt x="5035531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577441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0" y="0"/>
                </a:lnTo>
                <a:lnTo>
                  <a:pt x="5035530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9599104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1" y="0"/>
                </a:lnTo>
                <a:lnTo>
                  <a:pt x="5035531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7387071" y="-1394098"/>
            <a:ext cx="3467726" cy="8388682"/>
            <a:chOff x="0" y="0"/>
            <a:chExt cx="4623635" cy="11184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3635" cy="5633896"/>
            </a:xfrm>
            <a:custGeom>
              <a:avLst/>
              <a:gdLst/>
              <a:ahLst/>
              <a:cxnLst/>
              <a:rect r="r" b="b" t="t" l="l"/>
              <a:pathLst>
                <a:path h="5633896" w="4623635">
                  <a:moveTo>
                    <a:pt x="0" y="0"/>
                  </a:moveTo>
                  <a:lnTo>
                    <a:pt x="4623635" y="0"/>
                  </a:lnTo>
                  <a:lnTo>
                    <a:pt x="4623635" y="5633896"/>
                  </a:lnTo>
                  <a:lnTo>
                    <a:pt x="0" y="5633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67260" t="-37267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4971" y="5612523"/>
              <a:ext cx="4498664" cy="5572386"/>
            </a:xfrm>
            <a:custGeom>
              <a:avLst/>
              <a:gdLst/>
              <a:ahLst/>
              <a:cxnLst/>
              <a:rect r="r" b="b" t="t" l="l"/>
              <a:pathLst>
                <a:path h="5572386" w="4498664">
                  <a:moveTo>
                    <a:pt x="0" y="0"/>
                  </a:moveTo>
                  <a:lnTo>
                    <a:pt x="4498664" y="0"/>
                  </a:lnTo>
                  <a:lnTo>
                    <a:pt x="4498664" y="5572386"/>
                  </a:lnTo>
                  <a:lnTo>
                    <a:pt x="0" y="5572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71907" t="0" r="0" b="-3878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23390" y="4534106"/>
            <a:ext cx="16595088" cy="3879102"/>
          </a:xfrm>
          <a:custGeom>
            <a:avLst/>
            <a:gdLst/>
            <a:ahLst/>
            <a:cxnLst/>
            <a:rect r="r" b="b" t="t" l="l"/>
            <a:pathLst>
              <a:path h="3879102" w="16595088">
                <a:moveTo>
                  <a:pt x="0" y="0"/>
                </a:moveTo>
                <a:lnTo>
                  <a:pt x="16595088" y="0"/>
                </a:lnTo>
                <a:lnTo>
                  <a:pt x="16595088" y="3879102"/>
                </a:lnTo>
                <a:lnTo>
                  <a:pt x="0" y="3879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27495"/>
            <a:ext cx="659766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5. CORE METHOD: SINGULAR VALUE DECOMPOSITION (SVD)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 P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HNOM PENH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240119" y="2323040"/>
            <a:ext cx="9807763" cy="954406"/>
            <a:chOff x="0" y="0"/>
            <a:chExt cx="13077017" cy="127254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00736"/>
              <a:ext cx="1307701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42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 hand-crafted example showing SVD discovering genre structure automatically: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8100"/>
              <a:ext cx="13077017" cy="668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0"/>
                </a:lnSpc>
              </a:pPr>
              <a:r>
                <a:rPr lang="en-US" b="true" sz="3500" spc="-17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Conc</a:t>
              </a:r>
              <a:r>
                <a:rPr lang="en-US" b="true" sz="3500" spc="-17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eptual Example: 6 Movies × 5 Terms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444174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1" y="0"/>
                </a:lnTo>
                <a:lnTo>
                  <a:pt x="5035531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577441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0" y="0"/>
                </a:lnTo>
                <a:lnTo>
                  <a:pt x="5035530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9599104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1" y="0"/>
                </a:lnTo>
                <a:lnTo>
                  <a:pt x="5035531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7387071" y="-1394098"/>
            <a:ext cx="3467726" cy="8388682"/>
            <a:chOff x="0" y="0"/>
            <a:chExt cx="4623635" cy="11184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3635" cy="5633896"/>
            </a:xfrm>
            <a:custGeom>
              <a:avLst/>
              <a:gdLst/>
              <a:ahLst/>
              <a:cxnLst/>
              <a:rect r="r" b="b" t="t" l="l"/>
              <a:pathLst>
                <a:path h="5633896" w="4623635">
                  <a:moveTo>
                    <a:pt x="0" y="0"/>
                  </a:moveTo>
                  <a:lnTo>
                    <a:pt x="4623635" y="0"/>
                  </a:lnTo>
                  <a:lnTo>
                    <a:pt x="4623635" y="5633896"/>
                  </a:lnTo>
                  <a:lnTo>
                    <a:pt x="0" y="5633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67260" t="-37267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4971" y="5612523"/>
              <a:ext cx="4498664" cy="5572386"/>
            </a:xfrm>
            <a:custGeom>
              <a:avLst/>
              <a:gdLst/>
              <a:ahLst/>
              <a:cxnLst/>
              <a:rect r="r" b="b" t="t" l="l"/>
              <a:pathLst>
                <a:path h="5572386" w="4498664">
                  <a:moveTo>
                    <a:pt x="0" y="0"/>
                  </a:moveTo>
                  <a:lnTo>
                    <a:pt x="4498664" y="0"/>
                  </a:lnTo>
                  <a:lnTo>
                    <a:pt x="4498664" y="5572386"/>
                  </a:lnTo>
                  <a:lnTo>
                    <a:pt x="0" y="5572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71907" t="0" r="0" b="-3878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75744" y="2229337"/>
            <a:ext cx="17136512" cy="10024859"/>
          </a:xfrm>
          <a:custGeom>
            <a:avLst/>
            <a:gdLst/>
            <a:ahLst/>
            <a:cxnLst/>
            <a:rect r="r" b="b" t="t" l="l"/>
            <a:pathLst>
              <a:path h="10024859" w="17136512">
                <a:moveTo>
                  <a:pt x="0" y="0"/>
                </a:moveTo>
                <a:lnTo>
                  <a:pt x="17136512" y="0"/>
                </a:lnTo>
                <a:lnTo>
                  <a:pt x="17136512" y="10024859"/>
                </a:lnTo>
                <a:lnTo>
                  <a:pt x="0" y="10024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27495"/>
            <a:ext cx="659766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5. CORE METHOD: SINGULAR VALUE DECOMPOSITION (SVD)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 P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HNOM PENH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240119" y="1465790"/>
            <a:ext cx="9807763" cy="954406"/>
            <a:chOff x="0" y="0"/>
            <a:chExt cx="13077017" cy="127254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00736"/>
              <a:ext cx="1307701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940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8100"/>
              <a:ext cx="13077017" cy="668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0"/>
                </a:lnSpc>
              </a:pPr>
              <a:r>
                <a:rPr lang="en-US" b="true" sz="3500" spc="-17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</a:t>
              </a:r>
              <a:r>
                <a:rPr lang="en-US" b="true" sz="3500" spc="-17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eal Model — U, Σ, V^T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444174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1" y="0"/>
                </a:lnTo>
                <a:lnTo>
                  <a:pt x="5035531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577441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0" y="0"/>
                </a:lnTo>
                <a:lnTo>
                  <a:pt x="5035530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9599104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1" y="0"/>
                </a:lnTo>
                <a:lnTo>
                  <a:pt x="5035531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69471" y="1734163"/>
            <a:ext cx="9807763" cy="954405"/>
            <a:chOff x="0" y="0"/>
            <a:chExt cx="13077017" cy="12725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00735"/>
              <a:ext cx="1307701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42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Each row of </a:t>
              </a:r>
              <a:r>
                <a:rPr lang="en-US" sz="2100" spc="42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VT</a:t>
              </a:r>
              <a:r>
                <a:rPr lang="en-US" sz="2100" i="true" spc="42">
                  <a:solidFill>
                    <a:srgbClr val="202020"/>
                  </a:solidFill>
                  <a:latin typeface="Glacial Indifference Italics"/>
                  <a:ea typeface="Glacial Indifference Italics"/>
                  <a:cs typeface="Glacial Indifference Italics"/>
                  <a:sym typeface="Glacial Indifference Italics"/>
                </a:rPr>
                <a:t>V</a:t>
              </a:r>
              <a:r>
                <a:rPr lang="en-US" sz="2100" i="true" spc="42">
                  <a:solidFill>
                    <a:srgbClr val="202020"/>
                  </a:solidFill>
                  <a:latin typeface="Glacial Indifference Italics"/>
                  <a:ea typeface="Glacial Indifference Italics"/>
                  <a:cs typeface="Glacial Indifference Italics"/>
                  <a:sym typeface="Glacial Indifference Italics"/>
                </a:rPr>
                <a:t>T</a:t>
              </a:r>
              <a:r>
                <a:rPr lang="en-US" sz="2100" spc="42">
                  <a:solidFill>
                    <a:srgbClr val="20202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defines a topic. Here are the top words for the first 10: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100"/>
              <a:ext cx="13077017" cy="668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0"/>
                </a:lnSpc>
              </a:pPr>
              <a:r>
                <a:rPr lang="en-US" b="true" sz="3500" spc="-17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Top T</a:t>
              </a:r>
              <a:r>
                <a:rPr lang="en-US" b="true" sz="3500" spc="-17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erms per Latent Topic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7387071" y="-1394098"/>
            <a:ext cx="3467726" cy="8388682"/>
            <a:chOff x="0" y="0"/>
            <a:chExt cx="4623635" cy="111849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23635" cy="5633896"/>
            </a:xfrm>
            <a:custGeom>
              <a:avLst/>
              <a:gdLst/>
              <a:ahLst/>
              <a:cxnLst/>
              <a:rect r="r" b="b" t="t" l="l"/>
              <a:pathLst>
                <a:path h="5633896" w="4623635">
                  <a:moveTo>
                    <a:pt x="0" y="0"/>
                  </a:moveTo>
                  <a:lnTo>
                    <a:pt x="4623635" y="0"/>
                  </a:lnTo>
                  <a:lnTo>
                    <a:pt x="4623635" y="5633896"/>
                  </a:lnTo>
                  <a:lnTo>
                    <a:pt x="0" y="5633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67260" t="-37267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24971" y="5612523"/>
              <a:ext cx="4498664" cy="5572386"/>
            </a:xfrm>
            <a:custGeom>
              <a:avLst/>
              <a:gdLst/>
              <a:ahLst/>
              <a:cxnLst/>
              <a:rect r="r" b="b" t="t" l="l"/>
              <a:pathLst>
                <a:path h="5572386" w="4498664">
                  <a:moveTo>
                    <a:pt x="0" y="0"/>
                  </a:moveTo>
                  <a:lnTo>
                    <a:pt x="4498664" y="0"/>
                  </a:lnTo>
                  <a:lnTo>
                    <a:pt x="4498664" y="5572386"/>
                  </a:lnTo>
                  <a:lnTo>
                    <a:pt x="0" y="5572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71907" t="0" r="0" b="-38782"/>
              </a:stretch>
            </a:blipFill>
          </p:spPr>
        </p:sp>
      </p:grpSp>
      <p:graphicFrame>
        <p:nvGraphicFramePr>
          <p:cNvPr name="Object 11" id="11"/>
          <p:cNvGraphicFramePr/>
          <p:nvPr/>
        </p:nvGraphicFramePr>
        <p:xfrm>
          <a:off x="2754971" y="2895600"/>
          <a:ext cx="5657850" cy="6915150"/>
        </p:xfrm>
        <a:graphic>
          <a:graphicData uri="http://schemas.openxmlformats.org/presentationml/2006/ole">
            <p:oleObj imgW="7035800" imgH="8293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1028700" y="827495"/>
            <a:ext cx="659766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5. CORE METHOD: SINGULAR VALUE DECOMPOSITION (SVD)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 P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HNOM PENH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71117"/>
            <a:ext cx="10198385" cy="12262344"/>
          </a:xfrm>
          <a:custGeom>
            <a:avLst/>
            <a:gdLst/>
            <a:ahLst/>
            <a:cxnLst/>
            <a:rect r="r" b="b" t="t" l="l"/>
            <a:pathLst>
              <a:path h="12262344" w="10198385">
                <a:moveTo>
                  <a:pt x="0" y="0"/>
                </a:moveTo>
                <a:lnTo>
                  <a:pt x="10198385" y="0"/>
                </a:lnTo>
                <a:lnTo>
                  <a:pt x="10198385" y="12262344"/>
                </a:lnTo>
                <a:lnTo>
                  <a:pt x="0" y="12262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81" t="-2505" r="0" b="-100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1270" y="2492770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75495" y="2395438"/>
            <a:ext cx="3165421" cy="6031902"/>
            <a:chOff x="0" y="0"/>
            <a:chExt cx="1623702" cy="3094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3702" cy="3094062"/>
            </a:xfrm>
            <a:custGeom>
              <a:avLst/>
              <a:gdLst/>
              <a:ahLst/>
              <a:cxnLst/>
              <a:rect r="r" b="b" t="t" l="l"/>
              <a:pathLst>
                <a:path h="3094062" w="1623702">
                  <a:moveTo>
                    <a:pt x="0" y="0"/>
                  </a:moveTo>
                  <a:lnTo>
                    <a:pt x="1623702" y="0"/>
                  </a:lnTo>
                  <a:lnTo>
                    <a:pt x="1623702" y="3094062"/>
                  </a:lnTo>
                  <a:lnTo>
                    <a:pt x="0" y="3094062"/>
                  </a:lnTo>
                  <a:close/>
                </a:path>
              </a:pathLst>
            </a:custGeom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018182" y="3353989"/>
            <a:ext cx="3845468" cy="4114800"/>
          </a:xfrm>
          <a:custGeom>
            <a:avLst/>
            <a:gdLst/>
            <a:ahLst/>
            <a:cxnLst/>
            <a:rect r="r" b="b" t="t" l="l"/>
            <a:pathLst>
              <a:path h="4114800" w="3845468">
                <a:moveTo>
                  <a:pt x="0" y="0"/>
                </a:moveTo>
                <a:lnTo>
                  <a:pt x="3845468" y="0"/>
                </a:lnTo>
                <a:lnTo>
                  <a:pt x="3845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2608" y="4869638"/>
            <a:ext cx="7882253" cy="2510122"/>
          </a:xfrm>
          <a:custGeom>
            <a:avLst/>
            <a:gdLst/>
            <a:ahLst/>
            <a:cxnLst/>
            <a:rect r="r" b="b" t="t" l="l"/>
            <a:pathLst>
              <a:path h="2510122" w="7882253">
                <a:moveTo>
                  <a:pt x="0" y="0"/>
                </a:moveTo>
                <a:lnTo>
                  <a:pt x="7882254" y="0"/>
                </a:lnTo>
                <a:lnTo>
                  <a:pt x="7882254" y="2510123"/>
                </a:lnTo>
                <a:lnTo>
                  <a:pt x="0" y="25101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22608" y="2574921"/>
            <a:ext cx="7166113" cy="3235320"/>
            <a:chOff x="0" y="0"/>
            <a:chExt cx="9554817" cy="431376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841955"/>
              <a:ext cx="821565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8575"/>
              <a:ext cx="9554817" cy="651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0"/>
                </a:lnSpc>
              </a:pPr>
              <a:r>
                <a:rPr lang="en-US" sz="34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</a:t>
              </a:r>
              <a:r>
                <a:rPr lang="en-US" sz="34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at is</a:t>
              </a:r>
              <a:r>
                <a:rPr lang="en-US" b="true" sz="34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Cosine Similarity?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827495"/>
            <a:ext cx="545466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6. SEARCH METHOD: COSINE SIMILARITY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608" y="7902270"/>
            <a:ext cx="8125738" cy="15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eighted score used in the app: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score = α ⋅ similarity + (1 − α) ⋅ rating (normalized)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Default α = 0.85 semantic match matters more, rating breaks ties.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608" y="3325414"/>
            <a:ext cx="7166113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 spc="21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AFTER LSA PROJECTION, EVERY MOVIE AND EVERY QUERY IS A DENSE VECTOR IN K-DIMENSIONAL LATENT SPACE. WE MEASURE SIMILARITY USING THE COSINE OF THE ANGLE BETWEEN THEM: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04260" y="7052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95285" y="5946324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74077" y="2636259"/>
            <a:ext cx="1760492" cy="2860829"/>
          </a:xfrm>
          <a:custGeom>
            <a:avLst/>
            <a:gdLst/>
            <a:ahLst/>
            <a:cxnLst/>
            <a:rect r="r" b="b" t="t" l="l"/>
            <a:pathLst>
              <a:path h="2860829" w="1760492">
                <a:moveTo>
                  <a:pt x="0" y="0"/>
                </a:moveTo>
                <a:lnTo>
                  <a:pt x="1760493" y="0"/>
                </a:lnTo>
                <a:lnTo>
                  <a:pt x="1760493" y="2860830"/>
                </a:lnTo>
                <a:lnTo>
                  <a:pt x="0" y="2860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7097" t="-91985" r="0" b="-154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51191" y="2596053"/>
            <a:ext cx="1828442" cy="2894450"/>
          </a:xfrm>
          <a:custGeom>
            <a:avLst/>
            <a:gdLst/>
            <a:ahLst/>
            <a:cxnLst/>
            <a:rect r="r" b="b" t="t" l="l"/>
            <a:pathLst>
              <a:path h="2894450" w="1828442">
                <a:moveTo>
                  <a:pt x="0" y="0"/>
                </a:moveTo>
                <a:lnTo>
                  <a:pt x="1828442" y="0"/>
                </a:lnTo>
                <a:lnTo>
                  <a:pt x="1828442" y="2894450"/>
                </a:lnTo>
                <a:lnTo>
                  <a:pt x="0" y="289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9690" r="-224569" b="-1534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73969" y="4486569"/>
            <a:ext cx="1094006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</a:p>
        </p:txBody>
      </p:sp>
      <p:sp>
        <p:nvSpPr>
          <p:cNvPr name="AutoShape 7" id="7"/>
          <p:cNvSpPr/>
          <p:nvPr/>
        </p:nvSpPr>
        <p:spPr>
          <a:xfrm rot="0">
            <a:off x="-618637" y="4099736"/>
            <a:ext cx="18906637" cy="6187264"/>
          </a:xfrm>
          <a:prstGeom prst="rect">
            <a:avLst/>
          </a:prstGeom>
          <a:solidFill>
            <a:srgbClr val="B866CD"/>
          </a:solidFill>
        </p:spPr>
      </p:sp>
      <p:grpSp>
        <p:nvGrpSpPr>
          <p:cNvPr name="Group 8" id="8"/>
          <p:cNvGrpSpPr/>
          <p:nvPr/>
        </p:nvGrpSpPr>
        <p:grpSpPr>
          <a:xfrm rot="-5383136">
            <a:off x="3126346" y="7032033"/>
            <a:ext cx="5513807" cy="258364"/>
            <a:chOff x="0" y="0"/>
            <a:chExt cx="12196505" cy="571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255270"/>
              <a:ext cx="12196505" cy="69850"/>
            </a:xfrm>
            <a:custGeom>
              <a:avLst/>
              <a:gdLst/>
              <a:ahLst/>
              <a:cxnLst/>
              <a:rect r="r" b="b" t="t" l="l"/>
              <a:pathLst>
                <a:path h="69850" w="12196505">
                  <a:moveTo>
                    <a:pt x="11905676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2196505" y="69850"/>
                  </a:lnTo>
                  <a:lnTo>
                    <a:pt x="12196505" y="0"/>
                  </a:lnTo>
                  <a:close/>
                </a:path>
              </a:pathLst>
            </a:custGeom>
            <a:solidFill>
              <a:srgbClr val="F5F5EF"/>
            </a:solidFill>
          </p:spPr>
        </p:sp>
      </p:grpSp>
      <p:graphicFrame>
        <p:nvGraphicFramePr>
          <p:cNvPr name="Object 10" id="10"/>
          <p:cNvGraphicFramePr/>
          <p:nvPr/>
        </p:nvGraphicFramePr>
        <p:xfrm>
          <a:off x="6216813" y="4403711"/>
          <a:ext cx="7543800" cy="3143250"/>
        </p:xfrm>
        <a:graphic>
          <a:graphicData uri="http://schemas.openxmlformats.org/presentationml/2006/ole">
            <p:oleObj imgW="9042400" imgH="4648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673969" y="2276016"/>
            <a:ext cx="10940062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spc="63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 explanation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73969" y="1432736"/>
            <a:ext cx="10940062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true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 &amp;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7. RESULTS AND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391319"/>
            <a:ext cx="452098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4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Query:</a:t>
            </a:r>
          </a:p>
          <a:p>
            <a:pPr algn="l">
              <a:lnSpc>
                <a:spcPts val="2940"/>
              </a:lnSpc>
            </a:pPr>
            <a:r>
              <a:rPr lang="en-US" sz="2100" spc="4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“haunted house ghost supernatural”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717799" y="-351686"/>
            <a:ext cx="11901603" cy="10990371"/>
          </a:xfrm>
          <a:prstGeom prst="rect">
            <a:avLst/>
          </a:prstGeom>
          <a:solidFill>
            <a:srgbClr val="552B26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-110738" y="-1053349"/>
            <a:ext cx="6892972" cy="13766894"/>
            <a:chOff x="0" y="0"/>
            <a:chExt cx="9190629" cy="18355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9165229"/>
              <a:ext cx="9190629" cy="9190629"/>
            </a:xfrm>
            <a:custGeom>
              <a:avLst/>
              <a:gdLst/>
              <a:ahLst/>
              <a:cxnLst/>
              <a:rect r="r" b="b" t="t" l="l"/>
              <a:pathLst>
                <a:path h="9190629" w="9190629">
                  <a:moveTo>
                    <a:pt x="0" y="0"/>
                  </a:moveTo>
                  <a:lnTo>
                    <a:pt x="9190629" y="0"/>
                  </a:lnTo>
                  <a:lnTo>
                    <a:pt x="9190629" y="9190629"/>
                  </a:lnTo>
                  <a:lnTo>
                    <a:pt x="0" y="9190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90629" cy="9190629"/>
            </a:xfrm>
            <a:custGeom>
              <a:avLst/>
              <a:gdLst/>
              <a:ahLst/>
              <a:cxnLst/>
              <a:rect r="r" b="b" t="t" l="l"/>
              <a:pathLst>
                <a:path h="9190629" w="9190629">
                  <a:moveTo>
                    <a:pt x="0" y="0"/>
                  </a:moveTo>
                  <a:lnTo>
                    <a:pt x="9190629" y="0"/>
                  </a:lnTo>
                  <a:lnTo>
                    <a:pt x="9190629" y="9190629"/>
                  </a:lnTo>
                  <a:lnTo>
                    <a:pt x="0" y="9190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1438417" y="8114769"/>
            <a:ext cx="3621038" cy="3621038"/>
            <a:chOff x="0" y="0"/>
            <a:chExt cx="1708150" cy="1708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</p:spPr>
        </p:sp>
      </p:grpSp>
      <p:grpSp>
        <p:nvGrpSpPr>
          <p:cNvPr name="Group 8" id="8"/>
          <p:cNvGrpSpPr/>
          <p:nvPr/>
        </p:nvGrpSpPr>
        <p:grpSpPr>
          <a:xfrm rot="0">
            <a:off x="7854185" y="1597126"/>
            <a:ext cx="9405115" cy="4875005"/>
            <a:chOff x="0" y="0"/>
            <a:chExt cx="12540154" cy="650000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53350"/>
              <a:ext cx="12540154" cy="584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</a:pPr>
              <a:r>
                <a:rPr lang="en-US" sz="2299" spc="4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Internation</a:t>
              </a:r>
              <a:r>
                <a:rPr lang="en-US" sz="2299" spc="4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ally famous Indian sharp shooter Nadiya Mether, famous dancer Thulasimani, and television reporter Shreya Maria are all murdered in the same car on the Sauparnika Express between Chennai and Mangalore.</a:t>
              </a:r>
            </a:p>
            <a:p>
              <a:pPr algn="l">
                <a:lnSpc>
                  <a:spcPts val="3219"/>
                </a:lnSpc>
              </a:pPr>
            </a:p>
            <a:p>
              <a:pPr algn="l">
                <a:lnSpc>
                  <a:spcPts val="3219"/>
                </a:lnSpc>
              </a:pPr>
              <a:r>
                <a:rPr lang="en-US" sz="2299" spc="4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The other occupants in the car were: actress Priya Rose with her mother Rajamma and father; four doctors traveling together; Tamil Novelist Seetharaman; Palakkad Railway Police Superintendent Al</a:t>
              </a:r>
              <a:r>
                <a:rPr lang="en-US" sz="2299" spc="4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exander Chempadan; Madhavan Master, his wife and their mentally unstable son Balu; the conductor; and the steward...</a:t>
              </a:r>
            </a:p>
            <a:p>
              <a:pPr algn="l">
                <a:lnSpc>
                  <a:spcPts val="321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8100"/>
              <a:ext cx="12540154" cy="466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5"/>
                </a:lnSpc>
              </a:pPr>
              <a:r>
                <a:rPr lang="en-US" b="true" sz="2525">
                  <a:solidFill>
                    <a:srgbClr val="D9D9D9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Plot: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634036"/>
            <a:ext cx="5146077" cy="5424825"/>
            <a:chOff x="0" y="0"/>
            <a:chExt cx="6861435" cy="7233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69439" cy="5149052"/>
            </a:xfrm>
            <a:custGeom>
              <a:avLst/>
              <a:gdLst/>
              <a:ahLst/>
              <a:cxnLst/>
              <a:rect r="r" b="b" t="t" l="l"/>
              <a:pathLst>
                <a:path h="5149052" w="3669439">
                  <a:moveTo>
                    <a:pt x="0" y="0"/>
                  </a:moveTo>
                  <a:lnTo>
                    <a:pt x="3669439" y="0"/>
                  </a:lnTo>
                  <a:lnTo>
                    <a:pt x="3669439" y="5149052"/>
                  </a:lnTo>
                  <a:lnTo>
                    <a:pt x="0" y="5149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5539175"/>
              <a:ext cx="6861435" cy="1693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44"/>
                </a:lnSpc>
              </a:pPr>
              <a:r>
                <a:rPr lang="en-US" sz="3800" b="true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Nadiya Kollappetta Rathri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7. RESULTS AND ANALYSIS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717799" y="-351686"/>
            <a:ext cx="11901603" cy="10990371"/>
          </a:xfrm>
          <a:prstGeom prst="rect">
            <a:avLst/>
          </a:prstGeom>
          <a:solidFill>
            <a:srgbClr val="CB6CE6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-110738" y="-1053349"/>
            <a:ext cx="6892972" cy="13766894"/>
            <a:chOff x="0" y="0"/>
            <a:chExt cx="9190629" cy="18355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9165229"/>
              <a:ext cx="9190629" cy="9190629"/>
            </a:xfrm>
            <a:custGeom>
              <a:avLst/>
              <a:gdLst/>
              <a:ahLst/>
              <a:cxnLst/>
              <a:rect r="r" b="b" t="t" l="l"/>
              <a:pathLst>
                <a:path h="9190629" w="9190629">
                  <a:moveTo>
                    <a:pt x="0" y="0"/>
                  </a:moveTo>
                  <a:lnTo>
                    <a:pt x="9190629" y="0"/>
                  </a:lnTo>
                  <a:lnTo>
                    <a:pt x="9190629" y="9190629"/>
                  </a:lnTo>
                  <a:lnTo>
                    <a:pt x="0" y="9190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90629" cy="9190629"/>
            </a:xfrm>
            <a:custGeom>
              <a:avLst/>
              <a:gdLst/>
              <a:ahLst/>
              <a:cxnLst/>
              <a:rect r="r" b="b" t="t" l="l"/>
              <a:pathLst>
                <a:path h="9190629" w="9190629">
                  <a:moveTo>
                    <a:pt x="0" y="0"/>
                  </a:moveTo>
                  <a:lnTo>
                    <a:pt x="9190629" y="0"/>
                  </a:lnTo>
                  <a:lnTo>
                    <a:pt x="9190629" y="9190629"/>
                  </a:lnTo>
                  <a:lnTo>
                    <a:pt x="0" y="9190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1438417" y="8114769"/>
            <a:ext cx="3621038" cy="3621038"/>
            <a:chOff x="0" y="0"/>
            <a:chExt cx="1708150" cy="1708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5929560"/>
            <a:ext cx="5146077" cy="128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sz="3800" b="true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Murder on the Orient Express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1597126"/>
            <a:ext cx="2798309" cy="4146584"/>
          </a:xfrm>
          <a:custGeom>
            <a:avLst/>
            <a:gdLst/>
            <a:ahLst/>
            <a:cxnLst/>
            <a:rect r="r" b="b" t="t" l="l"/>
            <a:pathLst>
              <a:path h="4146584" w="2798309">
                <a:moveTo>
                  <a:pt x="0" y="0"/>
                </a:moveTo>
                <a:lnTo>
                  <a:pt x="2798309" y="0"/>
                </a:lnTo>
                <a:lnTo>
                  <a:pt x="2798309" y="4146585"/>
                </a:lnTo>
                <a:lnTo>
                  <a:pt x="0" y="4146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854185" y="1597126"/>
            <a:ext cx="9405115" cy="8168211"/>
            <a:chOff x="0" y="0"/>
            <a:chExt cx="12540154" cy="1089094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40692"/>
              <a:ext cx="12540154" cy="10250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6"/>
                </a:lnSpc>
              </a:pPr>
              <a:r>
                <a:rPr lang="en-US" sz="2299" spc="4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 1934,</a:t>
              </a:r>
              <a:r>
                <a:rPr lang="en-US" sz="2299" spc="4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famed Belgian detective Hercule Poirot solves a theft at the Church of the Holy Sepulchre in Jerusalem. Intending to return to London, his friend Bouc arranges accommodations for Poirot aboard the Simplon-route train, the Orient Express. Alongside Bouc, Poirot's fellow passengers include widow Caroline Hubbard; businessman Edward Ratchett, his manservant Edward Masterman and secretary Hector MacQueen; elderly Russian Princess Natalia Dragomiroff and her maid Hildegarde Schmidt; Hungarian diplomat Count Rudolf Andrenyi and his wife Elena...</a:t>
              </a:r>
            </a:p>
            <a:p>
              <a:pPr algn="l">
                <a:lnSpc>
                  <a:spcPts val="3426"/>
                </a:lnSpc>
              </a:pPr>
            </a:p>
            <a:p>
              <a:pPr algn="l">
                <a:lnSpc>
                  <a:spcPts val="3426"/>
                </a:lnSpc>
              </a:pPr>
              <a:r>
                <a:rPr lang="en-US" sz="2299" spc="4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Having received threatening letters, Ratchett attempts to hire Poirot to protect him during the journey, but Poirot declines, not wanting to do business with a suspicious character. An avalanche derails the train's engine, stranding th</a:t>
              </a:r>
              <a:r>
                <a:rPr lang="en-US" sz="2299" spc="4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 passengers until a rescue crew can re-rail the locomotive. During the night, Poirot is awakened by strange noises in the hall next to his cabin and sees someone in a red </a:t>
              </a:r>
              <a:r>
                <a:rPr lang="en-US" sz="2299" spc="45" u="sng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  <a:hlinkClick r:id="rId5" tooltip="https://en.wikipedia.org/wiki/Kimono"/>
                </a:rPr>
                <a:t>kimono</a:t>
              </a:r>
              <a:r>
                <a:rPr lang="en-US" sz="2299" spc="4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rushing down the aisleway. Ratchett is found murdered the following morning, stabbed 12 times...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76200"/>
              <a:ext cx="12540154" cy="587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62"/>
                </a:lnSpc>
              </a:pPr>
              <a:r>
                <a:rPr lang="en-US" b="true" sz="2525">
                  <a:solidFill>
                    <a:srgbClr val="D9D9D9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Plot: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7. RESULTS AND ANALYSIS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02432" y="1454150"/>
            <a:ext cx="8683137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6399" spc="-3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Limitation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36906" y="5895836"/>
            <a:ext cx="5037532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b="true" sz="2525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 too small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40630" y="6521946"/>
            <a:ext cx="5230085" cy="1732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6"/>
              </a:lnSpc>
            </a:pP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model forces unrelated concepts together. It might decide that "Space" and "Submarines" are the same because they both involve "crews in </a:t>
            </a: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c</a:t>
            </a: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onfined metal tube."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56526" y="5895836"/>
            <a:ext cx="3372724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b="true" sz="2525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 too high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21926" y="6607671"/>
            <a:ext cx="6441923" cy="138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6"/>
              </a:lnSpc>
            </a:pP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You lose the "latent" benefi</a:t>
            </a: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t. The model starts treating every unique word as its own dimension, essentially turning back into a basic keyword search that can't handle synonyms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8. LIMITATIONS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grpSp>
        <p:nvGrpSpPr>
          <p:cNvPr name="Group 9" id="9"/>
          <p:cNvGrpSpPr/>
          <p:nvPr/>
        </p:nvGrpSpPr>
        <p:grpSpPr>
          <a:xfrm rot="5400000">
            <a:off x="7036956" y="6438196"/>
            <a:ext cx="4214088" cy="224900"/>
            <a:chOff x="0" y="0"/>
            <a:chExt cx="9194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69420" y="304800"/>
              <a:ext cx="14207544" cy="203200"/>
            </a:xfrm>
            <a:custGeom>
              <a:avLst/>
              <a:gdLst/>
              <a:ahLst/>
              <a:cxnLst/>
              <a:rect r="r" b="b" t="t" l="l"/>
              <a:pathLst>
                <a:path h="203200" w="14207544">
                  <a:moveTo>
                    <a:pt x="173263" y="0"/>
                  </a:moveTo>
                  <a:cubicBezTo>
                    <a:pt x="268558" y="0"/>
                    <a:pt x="346526" y="45720"/>
                    <a:pt x="346526" y="101600"/>
                  </a:cubicBezTo>
                  <a:cubicBezTo>
                    <a:pt x="346526" y="157480"/>
                    <a:pt x="268558" y="203200"/>
                    <a:pt x="173263" y="203200"/>
                  </a:cubicBezTo>
                  <a:cubicBezTo>
                    <a:pt x="77968" y="203200"/>
                    <a:pt x="0" y="157480"/>
                    <a:pt x="0" y="101600"/>
                  </a:cubicBezTo>
                  <a:cubicBezTo>
                    <a:pt x="0" y="45720"/>
                    <a:pt x="77968" y="0"/>
                    <a:pt x="173263" y="0"/>
                  </a:cubicBezTo>
                  <a:close/>
                  <a:moveTo>
                    <a:pt x="866314" y="0"/>
                  </a:moveTo>
                  <a:cubicBezTo>
                    <a:pt x="961608" y="0"/>
                    <a:pt x="1039577" y="45720"/>
                    <a:pt x="1039577" y="101600"/>
                  </a:cubicBezTo>
                  <a:cubicBezTo>
                    <a:pt x="1039577" y="157480"/>
                    <a:pt x="961608" y="203200"/>
                    <a:pt x="866314" y="203200"/>
                  </a:cubicBezTo>
                  <a:cubicBezTo>
                    <a:pt x="771019" y="203200"/>
                    <a:pt x="693051" y="157480"/>
                    <a:pt x="693051" y="101600"/>
                  </a:cubicBezTo>
                  <a:cubicBezTo>
                    <a:pt x="693051" y="45720"/>
                    <a:pt x="771019" y="0"/>
                    <a:pt x="866314" y="0"/>
                  </a:cubicBezTo>
                  <a:close/>
                  <a:moveTo>
                    <a:pt x="1559365" y="0"/>
                  </a:moveTo>
                  <a:cubicBezTo>
                    <a:pt x="1654659" y="0"/>
                    <a:pt x="1732628" y="45720"/>
                    <a:pt x="1732628" y="101600"/>
                  </a:cubicBezTo>
                  <a:cubicBezTo>
                    <a:pt x="1732628" y="157480"/>
                    <a:pt x="1654659" y="203200"/>
                    <a:pt x="1559365" y="203200"/>
                  </a:cubicBezTo>
                  <a:cubicBezTo>
                    <a:pt x="1464070" y="203200"/>
                    <a:pt x="1386102" y="157480"/>
                    <a:pt x="1386102" y="101600"/>
                  </a:cubicBezTo>
                  <a:cubicBezTo>
                    <a:pt x="1386102" y="45720"/>
                    <a:pt x="1464070" y="0"/>
                    <a:pt x="1559365" y="0"/>
                  </a:cubicBezTo>
                  <a:close/>
                  <a:moveTo>
                    <a:pt x="2252416" y="0"/>
                  </a:moveTo>
                  <a:cubicBezTo>
                    <a:pt x="2347710" y="0"/>
                    <a:pt x="2425678" y="45720"/>
                    <a:pt x="2425678" y="101600"/>
                  </a:cubicBezTo>
                  <a:cubicBezTo>
                    <a:pt x="2425678" y="157480"/>
                    <a:pt x="2347710" y="203200"/>
                    <a:pt x="2252416" y="203200"/>
                  </a:cubicBezTo>
                  <a:cubicBezTo>
                    <a:pt x="2157121" y="203200"/>
                    <a:pt x="2079153" y="157480"/>
                    <a:pt x="2079153" y="101600"/>
                  </a:cubicBezTo>
                  <a:cubicBezTo>
                    <a:pt x="2079153" y="45720"/>
                    <a:pt x="2157121" y="0"/>
                    <a:pt x="2252416" y="0"/>
                  </a:cubicBezTo>
                  <a:close/>
                  <a:moveTo>
                    <a:pt x="2945467" y="0"/>
                  </a:moveTo>
                  <a:cubicBezTo>
                    <a:pt x="3040761" y="0"/>
                    <a:pt x="3118730" y="45720"/>
                    <a:pt x="3118730" y="101600"/>
                  </a:cubicBezTo>
                  <a:cubicBezTo>
                    <a:pt x="3118730" y="157480"/>
                    <a:pt x="3040761" y="203200"/>
                    <a:pt x="2945467" y="203200"/>
                  </a:cubicBezTo>
                  <a:cubicBezTo>
                    <a:pt x="2850172" y="203200"/>
                    <a:pt x="2772204" y="157480"/>
                    <a:pt x="2772204" y="101600"/>
                  </a:cubicBezTo>
                  <a:cubicBezTo>
                    <a:pt x="2772204" y="45720"/>
                    <a:pt x="2850172" y="0"/>
                    <a:pt x="2945467" y="0"/>
                  </a:cubicBezTo>
                  <a:close/>
                  <a:moveTo>
                    <a:pt x="3638518" y="0"/>
                  </a:moveTo>
                  <a:cubicBezTo>
                    <a:pt x="3733812" y="0"/>
                    <a:pt x="3811780" y="45720"/>
                    <a:pt x="3811780" y="101600"/>
                  </a:cubicBezTo>
                  <a:cubicBezTo>
                    <a:pt x="3811780" y="157480"/>
                    <a:pt x="3733812" y="203200"/>
                    <a:pt x="3638518" y="203200"/>
                  </a:cubicBezTo>
                  <a:cubicBezTo>
                    <a:pt x="3543223" y="203200"/>
                    <a:pt x="3465255" y="157480"/>
                    <a:pt x="3465255" y="101600"/>
                  </a:cubicBezTo>
                  <a:cubicBezTo>
                    <a:pt x="3465255" y="45720"/>
                    <a:pt x="3543223" y="0"/>
                    <a:pt x="3638518" y="0"/>
                  </a:cubicBezTo>
                  <a:close/>
                  <a:moveTo>
                    <a:pt x="4331569" y="0"/>
                  </a:moveTo>
                  <a:cubicBezTo>
                    <a:pt x="4426863" y="0"/>
                    <a:pt x="4504831" y="45720"/>
                    <a:pt x="4504831" y="101600"/>
                  </a:cubicBezTo>
                  <a:cubicBezTo>
                    <a:pt x="4504831" y="157480"/>
                    <a:pt x="4426863" y="203200"/>
                    <a:pt x="4331569" y="203200"/>
                  </a:cubicBezTo>
                  <a:cubicBezTo>
                    <a:pt x="4236274" y="203200"/>
                    <a:pt x="4158306" y="157480"/>
                    <a:pt x="4158306" y="101600"/>
                  </a:cubicBezTo>
                  <a:cubicBezTo>
                    <a:pt x="4158306" y="45720"/>
                    <a:pt x="4236274" y="0"/>
                    <a:pt x="4331569" y="0"/>
                  </a:cubicBezTo>
                  <a:close/>
                  <a:moveTo>
                    <a:pt x="5024619" y="0"/>
                  </a:moveTo>
                  <a:cubicBezTo>
                    <a:pt x="5119914" y="0"/>
                    <a:pt x="5197882" y="45720"/>
                    <a:pt x="5197882" y="101600"/>
                  </a:cubicBezTo>
                  <a:cubicBezTo>
                    <a:pt x="5197882" y="157480"/>
                    <a:pt x="5119914" y="203200"/>
                    <a:pt x="5024619" y="203200"/>
                  </a:cubicBezTo>
                  <a:cubicBezTo>
                    <a:pt x="4929325" y="203200"/>
                    <a:pt x="4851357" y="157480"/>
                    <a:pt x="4851357" y="101600"/>
                  </a:cubicBezTo>
                  <a:cubicBezTo>
                    <a:pt x="4851357" y="45720"/>
                    <a:pt x="4929325" y="0"/>
                    <a:pt x="5024619" y="0"/>
                  </a:cubicBezTo>
                  <a:close/>
                  <a:moveTo>
                    <a:pt x="5717671" y="0"/>
                  </a:moveTo>
                  <a:cubicBezTo>
                    <a:pt x="5812965" y="0"/>
                    <a:pt x="5890933" y="45720"/>
                    <a:pt x="5890933" y="101600"/>
                  </a:cubicBezTo>
                  <a:cubicBezTo>
                    <a:pt x="5890933" y="157480"/>
                    <a:pt x="5812965" y="203200"/>
                    <a:pt x="5717671" y="203200"/>
                  </a:cubicBezTo>
                  <a:cubicBezTo>
                    <a:pt x="5622376" y="203200"/>
                    <a:pt x="5544408" y="157480"/>
                    <a:pt x="5544408" y="101600"/>
                  </a:cubicBezTo>
                  <a:cubicBezTo>
                    <a:pt x="5544408" y="45720"/>
                    <a:pt x="5622376" y="0"/>
                    <a:pt x="5717671" y="0"/>
                  </a:cubicBezTo>
                  <a:close/>
                  <a:moveTo>
                    <a:pt x="6410721" y="0"/>
                  </a:moveTo>
                  <a:cubicBezTo>
                    <a:pt x="6506015" y="0"/>
                    <a:pt x="6583984" y="45720"/>
                    <a:pt x="6583984" y="101600"/>
                  </a:cubicBezTo>
                  <a:cubicBezTo>
                    <a:pt x="6583984" y="157480"/>
                    <a:pt x="6506015" y="203200"/>
                    <a:pt x="6410721" y="203200"/>
                  </a:cubicBezTo>
                  <a:cubicBezTo>
                    <a:pt x="6315427" y="203200"/>
                    <a:pt x="6237459" y="157480"/>
                    <a:pt x="6237459" y="101600"/>
                  </a:cubicBezTo>
                  <a:cubicBezTo>
                    <a:pt x="6237459" y="45720"/>
                    <a:pt x="6315427" y="0"/>
                    <a:pt x="6410721" y="0"/>
                  </a:cubicBezTo>
                  <a:close/>
                  <a:moveTo>
                    <a:pt x="7103772" y="0"/>
                  </a:moveTo>
                  <a:cubicBezTo>
                    <a:pt x="7199067" y="0"/>
                    <a:pt x="7277035" y="45720"/>
                    <a:pt x="7277035" y="101600"/>
                  </a:cubicBezTo>
                  <a:cubicBezTo>
                    <a:pt x="7277035" y="157480"/>
                    <a:pt x="7199067" y="203200"/>
                    <a:pt x="7103772" y="203200"/>
                  </a:cubicBezTo>
                  <a:cubicBezTo>
                    <a:pt x="7008478" y="203200"/>
                    <a:pt x="6930510" y="157480"/>
                    <a:pt x="6930510" y="101600"/>
                  </a:cubicBezTo>
                  <a:cubicBezTo>
                    <a:pt x="6930510" y="45720"/>
                    <a:pt x="7008478" y="0"/>
                    <a:pt x="7103772" y="0"/>
                  </a:cubicBezTo>
                  <a:close/>
                  <a:moveTo>
                    <a:pt x="7796823" y="0"/>
                  </a:moveTo>
                  <a:cubicBezTo>
                    <a:pt x="7892118" y="0"/>
                    <a:pt x="7970086" y="45720"/>
                    <a:pt x="7970086" y="101600"/>
                  </a:cubicBezTo>
                  <a:cubicBezTo>
                    <a:pt x="7970086" y="157480"/>
                    <a:pt x="7892118" y="203200"/>
                    <a:pt x="7796823" y="203200"/>
                  </a:cubicBezTo>
                  <a:cubicBezTo>
                    <a:pt x="7701529" y="203200"/>
                    <a:pt x="7623560" y="157480"/>
                    <a:pt x="7623560" y="101600"/>
                  </a:cubicBezTo>
                  <a:cubicBezTo>
                    <a:pt x="7623560" y="45720"/>
                    <a:pt x="7701529" y="0"/>
                    <a:pt x="7796823" y="0"/>
                  </a:cubicBezTo>
                  <a:close/>
                  <a:moveTo>
                    <a:pt x="8489874" y="0"/>
                  </a:moveTo>
                  <a:cubicBezTo>
                    <a:pt x="8585168" y="0"/>
                    <a:pt x="8663137" y="45720"/>
                    <a:pt x="8663137" y="101600"/>
                  </a:cubicBezTo>
                  <a:cubicBezTo>
                    <a:pt x="8663137" y="157480"/>
                    <a:pt x="8585168" y="203200"/>
                    <a:pt x="8489874" y="203200"/>
                  </a:cubicBezTo>
                  <a:cubicBezTo>
                    <a:pt x="8394580" y="203200"/>
                    <a:pt x="8316611" y="157480"/>
                    <a:pt x="8316611" y="101600"/>
                  </a:cubicBezTo>
                  <a:cubicBezTo>
                    <a:pt x="8316611" y="45720"/>
                    <a:pt x="8394580" y="0"/>
                    <a:pt x="8489874" y="0"/>
                  </a:cubicBezTo>
                  <a:close/>
                  <a:moveTo>
                    <a:pt x="9182925" y="0"/>
                  </a:moveTo>
                  <a:cubicBezTo>
                    <a:pt x="9278220" y="0"/>
                    <a:pt x="9356188" y="45720"/>
                    <a:pt x="9356188" y="101600"/>
                  </a:cubicBezTo>
                  <a:cubicBezTo>
                    <a:pt x="9356188" y="157480"/>
                    <a:pt x="9278220" y="203200"/>
                    <a:pt x="9182925" y="203200"/>
                  </a:cubicBezTo>
                  <a:cubicBezTo>
                    <a:pt x="9087631" y="203200"/>
                    <a:pt x="9009663" y="157480"/>
                    <a:pt x="9009663" y="101600"/>
                  </a:cubicBezTo>
                  <a:cubicBezTo>
                    <a:pt x="9009663" y="45720"/>
                    <a:pt x="9087631" y="0"/>
                    <a:pt x="9182925" y="0"/>
                  </a:cubicBezTo>
                  <a:close/>
                  <a:moveTo>
                    <a:pt x="9875976" y="0"/>
                  </a:moveTo>
                  <a:cubicBezTo>
                    <a:pt x="9971271" y="0"/>
                    <a:pt x="10049239" y="45720"/>
                    <a:pt x="10049239" y="101600"/>
                  </a:cubicBezTo>
                  <a:cubicBezTo>
                    <a:pt x="10049239" y="157480"/>
                    <a:pt x="9971271" y="203200"/>
                    <a:pt x="9875976" y="203200"/>
                  </a:cubicBezTo>
                  <a:cubicBezTo>
                    <a:pt x="9780681" y="203200"/>
                    <a:pt x="9702713" y="157480"/>
                    <a:pt x="9702713" y="101600"/>
                  </a:cubicBezTo>
                  <a:cubicBezTo>
                    <a:pt x="9702713" y="45720"/>
                    <a:pt x="9780681" y="0"/>
                    <a:pt x="9875976" y="0"/>
                  </a:cubicBezTo>
                  <a:close/>
                  <a:moveTo>
                    <a:pt x="10569027" y="0"/>
                  </a:moveTo>
                  <a:cubicBezTo>
                    <a:pt x="10664322" y="0"/>
                    <a:pt x="10742289" y="45720"/>
                    <a:pt x="10742289" y="101600"/>
                  </a:cubicBezTo>
                  <a:cubicBezTo>
                    <a:pt x="10742289" y="157480"/>
                    <a:pt x="10664322" y="203200"/>
                    <a:pt x="10569027" y="203200"/>
                  </a:cubicBezTo>
                  <a:cubicBezTo>
                    <a:pt x="10473732" y="203200"/>
                    <a:pt x="10395764" y="157480"/>
                    <a:pt x="10395764" y="101600"/>
                  </a:cubicBezTo>
                  <a:cubicBezTo>
                    <a:pt x="10395764" y="45720"/>
                    <a:pt x="10473732" y="0"/>
                    <a:pt x="10569027" y="0"/>
                  </a:cubicBezTo>
                  <a:close/>
                  <a:moveTo>
                    <a:pt x="11262078" y="0"/>
                  </a:moveTo>
                  <a:cubicBezTo>
                    <a:pt x="11357373" y="0"/>
                    <a:pt x="11435341" y="45720"/>
                    <a:pt x="11435341" y="101600"/>
                  </a:cubicBezTo>
                  <a:cubicBezTo>
                    <a:pt x="11435341" y="157480"/>
                    <a:pt x="11357373" y="203200"/>
                    <a:pt x="11262078" y="203200"/>
                  </a:cubicBezTo>
                  <a:cubicBezTo>
                    <a:pt x="11166783" y="203200"/>
                    <a:pt x="11088816" y="157480"/>
                    <a:pt x="11088816" y="101600"/>
                  </a:cubicBezTo>
                  <a:cubicBezTo>
                    <a:pt x="11088816" y="45720"/>
                    <a:pt x="11166783" y="0"/>
                    <a:pt x="11262078" y="0"/>
                  </a:cubicBezTo>
                  <a:close/>
                  <a:moveTo>
                    <a:pt x="11955129" y="0"/>
                  </a:moveTo>
                  <a:cubicBezTo>
                    <a:pt x="12050424" y="0"/>
                    <a:pt x="12128392" y="45720"/>
                    <a:pt x="12128392" y="101600"/>
                  </a:cubicBezTo>
                  <a:cubicBezTo>
                    <a:pt x="12128392" y="157480"/>
                    <a:pt x="12050424" y="203200"/>
                    <a:pt x="11955129" y="203200"/>
                  </a:cubicBezTo>
                  <a:cubicBezTo>
                    <a:pt x="11859834" y="203200"/>
                    <a:pt x="11781866" y="157480"/>
                    <a:pt x="11781866" y="101600"/>
                  </a:cubicBezTo>
                  <a:cubicBezTo>
                    <a:pt x="11781866" y="45720"/>
                    <a:pt x="11859834" y="0"/>
                    <a:pt x="11955129" y="0"/>
                  </a:cubicBezTo>
                  <a:close/>
                  <a:moveTo>
                    <a:pt x="12648179" y="0"/>
                  </a:moveTo>
                  <a:cubicBezTo>
                    <a:pt x="12743474" y="0"/>
                    <a:pt x="12821443" y="45720"/>
                    <a:pt x="12821443" y="101600"/>
                  </a:cubicBezTo>
                  <a:cubicBezTo>
                    <a:pt x="12821443" y="157480"/>
                    <a:pt x="12743474" y="203200"/>
                    <a:pt x="12648179" y="203200"/>
                  </a:cubicBezTo>
                  <a:cubicBezTo>
                    <a:pt x="12552884" y="203200"/>
                    <a:pt x="12474917" y="157480"/>
                    <a:pt x="12474917" y="101600"/>
                  </a:cubicBezTo>
                  <a:cubicBezTo>
                    <a:pt x="12474917" y="45720"/>
                    <a:pt x="12552884" y="0"/>
                    <a:pt x="12648179" y="0"/>
                  </a:cubicBezTo>
                  <a:close/>
                  <a:moveTo>
                    <a:pt x="13341232" y="0"/>
                  </a:moveTo>
                  <a:cubicBezTo>
                    <a:pt x="13436527" y="0"/>
                    <a:pt x="13514494" y="45720"/>
                    <a:pt x="13514494" y="101600"/>
                  </a:cubicBezTo>
                  <a:cubicBezTo>
                    <a:pt x="13514494" y="157480"/>
                    <a:pt x="13436527" y="203200"/>
                    <a:pt x="13341232" y="203200"/>
                  </a:cubicBezTo>
                  <a:cubicBezTo>
                    <a:pt x="13245935" y="203200"/>
                    <a:pt x="13167968" y="157480"/>
                    <a:pt x="13167968" y="101600"/>
                  </a:cubicBezTo>
                  <a:cubicBezTo>
                    <a:pt x="13167968" y="45720"/>
                    <a:pt x="13245935" y="0"/>
                    <a:pt x="13341232" y="0"/>
                  </a:cubicBezTo>
                  <a:close/>
                  <a:moveTo>
                    <a:pt x="14034282" y="0"/>
                  </a:moveTo>
                  <a:cubicBezTo>
                    <a:pt x="14129577" y="0"/>
                    <a:pt x="14207545" y="45720"/>
                    <a:pt x="14207545" y="101600"/>
                  </a:cubicBezTo>
                  <a:cubicBezTo>
                    <a:pt x="14207545" y="157480"/>
                    <a:pt x="14129577" y="203200"/>
                    <a:pt x="14034282" y="203200"/>
                  </a:cubicBezTo>
                  <a:cubicBezTo>
                    <a:pt x="13938987" y="203200"/>
                    <a:pt x="13861018" y="157480"/>
                    <a:pt x="13861018" y="101600"/>
                  </a:cubicBezTo>
                  <a:cubicBezTo>
                    <a:pt x="13861018" y="45720"/>
                    <a:pt x="13938987" y="0"/>
                    <a:pt x="14034282" y="0"/>
                  </a:cubicBezTo>
                  <a:close/>
                </a:path>
              </a:pathLst>
            </a:custGeom>
            <a:solidFill>
              <a:srgbClr val="20202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645600" y="2716530"/>
            <a:ext cx="899680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spc="64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"Semantic Drift" Problem (Dimensio</a:t>
            </a:r>
            <a:r>
              <a:rPr lang="en-US" sz="3200" spc="64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nality Choice)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314036" y="4510509"/>
            <a:ext cx="683272" cy="1023977"/>
          </a:xfrm>
          <a:custGeom>
            <a:avLst/>
            <a:gdLst/>
            <a:ahLst/>
            <a:cxnLst/>
            <a:rect r="r" b="b" t="t" l="l"/>
            <a:pathLst>
              <a:path h="1023977" w="683272">
                <a:moveTo>
                  <a:pt x="0" y="0"/>
                </a:moveTo>
                <a:lnTo>
                  <a:pt x="683272" y="0"/>
                </a:lnTo>
                <a:lnTo>
                  <a:pt x="683272" y="1023978"/>
                </a:lnTo>
                <a:lnTo>
                  <a:pt x="0" y="1023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01252" y="4631511"/>
            <a:ext cx="683272" cy="1023977"/>
          </a:xfrm>
          <a:custGeom>
            <a:avLst/>
            <a:gdLst/>
            <a:ahLst/>
            <a:cxnLst/>
            <a:rect r="r" b="b" t="t" l="l"/>
            <a:pathLst>
              <a:path h="1023977" w="683272">
                <a:moveTo>
                  <a:pt x="0" y="0"/>
                </a:moveTo>
                <a:lnTo>
                  <a:pt x="683272" y="0"/>
                </a:lnTo>
                <a:lnTo>
                  <a:pt x="683272" y="1023978"/>
                </a:lnTo>
                <a:lnTo>
                  <a:pt x="0" y="1023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36906" y="5895836"/>
            <a:ext cx="5037532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b="true" sz="2525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Bag-of-words / no word</a:t>
            </a:r>
            <a:r>
              <a:rPr lang="en-US" b="true" sz="2525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order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36906" y="6575568"/>
            <a:ext cx="5037532" cy="1732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6"/>
              </a:lnSpc>
            </a:pP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LSA calculates the co-occurrence of terms but lack real semantic understanding.</a:t>
            </a:r>
          </a:p>
          <a:p>
            <a:pPr algn="ctr">
              <a:lnSpc>
                <a:spcPts val="2826"/>
              </a:lnSpc>
            </a:pP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Example: </a:t>
            </a:r>
          </a:p>
          <a:p>
            <a:pPr algn="ctr">
              <a:lnSpc>
                <a:spcPts val="2826"/>
              </a:lnSpc>
            </a:pP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"dog bites man" = "man bites dog" in TF-IDF</a:t>
            </a:r>
          </a:p>
          <a:p>
            <a:pPr algn="ctr">
              <a:lnSpc>
                <a:spcPts val="282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356526" y="5895836"/>
            <a:ext cx="3372724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b="true" sz="2525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</a:t>
            </a:r>
            <a:r>
              <a:rPr lang="en-US" b="true" sz="2525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egation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21926" y="6455271"/>
            <a:ext cx="6441923" cy="138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6"/>
              </a:lnSpc>
            </a:pP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searching for "N</a:t>
            </a: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ot a horror movie" is would not work. LSA sees the high-weight word "Horror" and ignores the "Not," leading the user directly to the genre they wanted to avoid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grpSp>
        <p:nvGrpSpPr>
          <p:cNvPr name="Group 7" id="7"/>
          <p:cNvGrpSpPr/>
          <p:nvPr/>
        </p:nvGrpSpPr>
        <p:grpSpPr>
          <a:xfrm rot="5400000">
            <a:off x="7036956" y="6438196"/>
            <a:ext cx="4214088" cy="224900"/>
            <a:chOff x="0" y="0"/>
            <a:chExt cx="9194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69420" y="304800"/>
              <a:ext cx="14207544" cy="203200"/>
            </a:xfrm>
            <a:custGeom>
              <a:avLst/>
              <a:gdLst/>
              <a:ahLst/>
              <a:cxnLst/>
              <a:rect r="r" b="b" t="t" l="l"/>
              <a:pathLst>
                <a:path h="203200" w="14207544">
                  <a:moveTo>
                    <a:pt x="173263" y="0"/>
                  </a:moveTo>
                  <a:cubicBezTo>
                    <a:pt x="268558" y="0"/>
                    <a:pt x="346526" y="45720"/>
                    <a:pt x="346526" y="101600"/>
                  </a:cubicBezTo>
                  <a:cubicBezTo>
                    <a:pt x="346526" y="157480"/>
                    <a:pt x="268558" y="203200"/>
                    <a:pt x="173263" y="203200"/>
                  </a:cubicBezTo>
                  <a:cubicBezTo>
                    <a:pt x="77968" y="203200"/>
                    <a:pt x="0" y="157480"/>
                    <a:pt x="0" y="101600"/>
                  </a:cubicBezTo>
                  <a:cubicBezTo>
                    <a:pt x="0" y="45720"/>
                    <a:pt x="77968" y="0"/>
                    <a:pt x="173263" y="0"/>
                  </a:cubicBezTo>
                  <a:close/>
                  <a:moveTo>
                    <a:pt x="866314" y="0"/>
                  </a:moveTo>
                  <a:cubicBezTo>
                    <a:pt x="961608" y="0"/>
                    <a:pt x="1039577" y="45720"/>
                    <a:pt x="1039577" y="101600"/>
                  </a:cubicBezTo>
                  <a:cubicBezTo>
                    <a:pt x="1039577" y="157480"/>
                    <a:pt x="961608" y="203200"/>
                    <a:pt x="866314" y="203200"/>
                  </a:cubicBezTo>
                  <a:cubicBezTo>
                    <a:pt x="771019" y="203200"/>
                    <a:pt x="693051" y="157480"/>
                    <a:pt x="693051" y="101600"/>
                  </a:cubicBezTo>
                  <a:cubicBezTo>
                    <a:pt x="693051" y="45720"/>
                    <a:pt x="771019" y="0"/>
                    <a:pt x="866314" y="0"/>
                  </a:cubicBezTo>
                  <a:close/>
                  <a:moveTo>
                    <a:pt x="1559365" y="0"/>
                  </a:moveTo>
                  <a:cubicBezTo>
                    <a:pt x="1654659" y="0"/>
                    <a:pt x="1732628" y="45720"/>
                    <a:pt x="1732628" y="101600"/>
                  </a:cubicBezTo>
                  <a:cubicBezTo>
                    <a:pt x="1732628" y="157480"/>
                    <a:pt x="1654659" y="203200"/>
                    <a:pt x="1559365" y="203200"/>
                  </a:cubicBezTo>
                  <a:cubicBezTo>
                    <a:pt x="1464070" y="203200"/>
                    <a:pt x="1386102" y="157480"/>
                    <a:pt x="1386102" y="101600"/>
                  </a:cubicBezTo>
                  <a:cubicBezTo>
                    <a:pt x="1386102" y="45720"/>
                    <a:pt x="1464070" y="0"/>
                    <a:pt x="1559365" y="0"/>
                  </a:cubicBezTo>
                  <a:close/>
                  <a:moveTo>
                    <a:pt x="2252416" y="0"/>
                  </a:moveTo>
                  <a:cubicBezTo>
                    <a:pt x="2347710" y="0"/>
                    <a:pt x="2425678" y="45720"/>
                    <a:pt x="2425678" y="101600"/>
                  </a:cubicBezTo>
                  <a:cubicBezTo>
                    <a:pt x="2425678" y="157480"/>
                    <a:pt x="2347710" y="203200"/>
                    <a:pt x="2252416" y="203200"/>
                  </a:cubicBezTo>
                  <a:cubicBezTo>
                    <a:pt x="2157121" y="203200"/>
                    <a:pt x="2079153" y="157480"/>
                    <a:pt x="2079153" y="101600"/>
                  </a:cubicBezTo>
                  <a:cubicBezTo>
                    <a:pt x="2079153" y="45720"/>
                    <a:pt x="2157121" y="0"/>
                    <a:pt x="2252416" y="0"/>
                  </a:cubicBezTo>
                  <a:close/>
                  <a:moveTo>
                    <a:pt x="2945467" y="0"/>
                  </a:moveTo>
                  <a:cubicBezTo>
                    <a:pt x="3040761" y="0"/>
                    <a:pt x="3118730" y="45720"/>
                    <a:pt x="3118730" y="101600"/>
                  </a:cubicBezTo>
                  <a:cubicBezTo>
                    <a:pt x="3118730" y="157480"/>
                    <a:pt x="3040761" y="203200"/>
                    <a:pt x="2945467" y="203200"/>
                  </a:cubicBezTo>
                  <a:cubicBezTo>
                    <a:pt x="2850172" y="203200"/>
                    <a:pt x="2772204" y="157480"/>
                    <a:pt x="2772204" y="101600"/>
                  </a:cubicBezTo>
                  <a:cubicBezTo>
                    <a:pt x="2772204" y="45720"/>
                    <a:pt x="2850172" y="0"/>
                    <a:pt x="2945467" y="0"/>
                  </a:cubicBezTo>
                  <a:close/>
                  <a:moveTo>
                    <a:pt x="3638518" y="0"/>
                  </a:moveTo>
                  <a:cubicBezTo>
                    <a:pt x="3733812" y="0"/>
                    <a:pt x="3811780" y="45720"/>
                    <a:pt x="3811780" y="101600"/>
                  </a:cubicBezTo>
                  <a:cubicBezTo>
                    <a:pt x="3811780" y="157480"/>
                    <a:pt x="3733812" y="203200"/>
                    <a:pt x="3638518" y="203200"/>
                  </a:cubicBezTo>
                  <a:cubicBezTo>
                    <a:pt x="3543223" y="203200"/>
                    <a:pt x="3465255" y="157480"/>
                    <a:pt x="3465255" y="101600"/>
                  </a:cubicBezTo>
                  <a:cubicBezTo>
                    <a:pt x="3465255" y="45720"/>
                    <a:pt x="3543223" y="0"/>
                    <a:pt x="3638518" y="0"/>
                  </a:cubicBezTo>
                  <a:close/>
                  <a:moveTo>
                    <a:pt x="4331569" y="0"/>
                  </a:moveTo>
                  <a:cubicBezTo>
                    <a:pt x="4426863" y="0"/>
                    <a:pt x="4504831" y="45720"/>
                    <a:pt x="4504831" y="101600"/>
                  </a:cubicBezTo>
                  <a:cubicBezTo>
                    <a:pt x="4504831" y="157480"/>
                    <a:pt x="4426863" y="203200"/>
                    <a:pt x="4331569" y="203200"/>
                  </a:cubicBezTo>
                  <a:cubicBezTo>
                    <a:pt x="4236274" y="203200"/>
                    <a:pt x="4158306" y="157480"/>
                    <a:pt x="4158306" y="101600"/>
                  </a:cubicBezTo>
                  <a:cubicBezTo>
                    <a:pt x="4158306" y="45720"/>
                    <a:pt x="4236274" y="0"/>
                    <a:pt x="4331569" y="0"/>
                  </a:cubicBezTo>
                  <a:close/>
                  <a:moveTo>
                    <a:pt x="5024619" y="0"/>
                  </a:moveTo>
                  <a:cubicBezTo>
                    <a:pt x="5119914" y="0"/>
                    <a:pt x="5197882" y="45720"/>
                    <a:pt x="5197882" y="101600"/>
                  </a:cubicBezTo>
                  <a:cubicBezTo>
                    <a:pt x="5197882" y="157480"/>
                    <a:pt x="5119914" y="203200"/>
                    <a:pt x="5024619" y="203200"/>
                  </a:cubicBezTo>
                  <a:cubicBezTo>
                    <a:pt x="4929325" y="203200"/>
                    <a:pt x="4851357" y="157480"/>
                    <a:pt x="4851357" y="101600"/>
                  </a:cubicBezTo>
                  <a:cubicBezTo>
                    <a:pt x="4851357" y="45720"/>
                    <a:pt x="4929325" y="0"/>
                    <a:pt x="5024619" y="0"/>
                  </a:cubicBezTo>
                  <a:close/>
                  <a:moveTo>
                    <a:pt x="5717671" y="0"/>
                  </a:moveTo>
                  <a:cubicBezTo>
                    <a:pt x="5812965" y="0"/>
                    <a:pt x="5890933" y="45720"/>
                    <a:pt x="5890933" y="101600"/>
                  </a:cubicBezTo>
                  <a:cubicBezTo>
                    <a:pt x="5890933" y="157480"/>
                    <a:pt x="5812965" y="203200"/>
                    <a:pt x="5717671" y="203200"/>
                  </a:cubicBezTo>
                  <a:cubicBezTo>
                    <a:pt x="5622376" y="203200"/>
                    <a:pt x="5544408" y="157480"/>
                    <a:pt x="5544408" y="101600"/>
                  </a:cubicBezTo>
                  <a:cubicBezTo>
                    <a:pt x="5544408" y="45720"/>
                    <a:pt x="5622376" y="0"/>
                    <a:pt x="5717671" y="0"/>
                  </a:cubicBezTo>
                  <a:close/>
                  <a:moveTo>
                    <a:pt x="6410721" y="0"/>
                  </a:moveTo>
                  <a:cubicBezTo>
                    <a:pt x="6506015" y="0"/>
                    <a:pt x="6583984" y="45720"/>
                    <a:pt x="6583984" y="101600"/>
                  </a:cubicBezTo>
                  <a:cubicBezTo>
                    <a:pt x="6583984" y="157480"/>
                    <a:pt x="6506015" y="203200"/>
                    <a:pt x="6410721" y="203200"/>
                  </a:cubicBezTo>
                  <a:cubicBezTo>
                    <a:pt x="6315427" y="203200"/>
                    <a:pt x="6237459" y="157480"/>
                    <a:pt x="6237459" y="101600"/>
                  </a:cubicBezTo>
                  <a:cubicBezTo>
                    <a:pt x="6237459" y="45720"/>
                    <a:pt x="6315427" y="0"/>
                    <a:pt x="6410721" y="0"/>
                  </a:cubicBezTo>
                  <a:close/>
                  <a:moveTo>
                    <a:pt x="7103772" y="0"/>
                  </a:moveTo>
                  <a:cubicBezTo>
                    <a:pt x="7199067" y="0"/>
                    <a:pt x="7277035" y="45720"/>
                    <a:pt x="7277035" y="101600"/>
                  </a:cubicBezTo>
                  <a:cubicBezTo>
                    <a:pt x="7277035" y="157480"/>
                    <a:pt x="7199067" y="203200"/>
                    <a:pt x="7103772" y="203200"/>
                  </a:cubicBezTo>
                  <a:cubicBezTo>
                    <a:pt x="7008478" y="203200"/>
                    <a:pt x="6930510" y="157480"/>
                    <a:pt x="6930510" y="101600"/>
                  </a:cubicBezTo>
                  <a:cubicBezTo>
                    <a:pt x="6930510" y="45720"/>
                    <a:pt x="7008478" y="0"/>
                    <a:pt x="7103772" y="0"/>
                  </a:cubicBezTo>
                  <a:close/>
                  <a:moveTo>
                    <a:pt x="7796823" y="0"/>
                  </a:moveTo>
                  <a:cubicBezTo>
                    <a:pt x="7892118" y="0"/>
                    <a:pt x="7970086" y="45720"/>
                    <a:pt x="7970086" y="101600"/>
                  </a:cubicBezTo>
                  <a:cubicBezTo>
                    <a:pt x="7970086" y="157480"/>
                    <a:pt x="7892118" y="203200"/>
                    <a:pt x="7796823" y="203200"/>
                  </a:cubicBezTo>
                  <a:cubicBezTo>
                    <a:pt x="7701529" y="203200"/>
                    <a:pt x="7623560" y="157480"/>
                    <a:pt x="7623560" y="101600"/>
                  </a:cubicBezTo>
                  <a:cubicBezTo>
                    <a:pt x="7623560" y="45720"/>
                    <a:pt x="7701529" y="0"/>
                    <a:pt x="7796823" y="0"/>
                  </a:cubicBezTo>
                  <a:close/>
                  <a:moveTo>
                    <a:pt x="8489874" y="0"/>
                  </a:moveTo>
                  <a:cubicBezTo>
                    <a:pt x="8585168" y="0"/>
                    <a:pt x="8663137" y="45720"/>
                    <a:pt x="8663137" y="101600"/>
                  </a:cubicBezTo>
                  <a:cubicBezTo>
                    <a:pt x="8663137" y="157480"/>
                    <a:pt x="8585168" y="203200"/>
                    <a:pt x="8489874" y="203200"/>
                  </a:cubicBezTo>
                  <a:cubicBezTo>
                    <a:pt x="8394580" y="203200"/>
                    <a:pt x="8316611" y="157480"/>
                    <a:pt x="8316611" y="101600"/>
                  </a:cubicBezTo>
                  <a:cubicBezTo>
                    <a:pt x="8316611" y="45720"/>
                    <a:pt x="8394580" y="0"/>
                    <a:pt x="8489874" y="0"/>
                  </a:cubicBezTo>
                  <a:close/>
                  <a:moveTo>
                    <a:pt x="9182925" y="0"/>
                  </a:moveTo>
                  <a:cubicBezTo>
                    <a:pt x="9278220" y="0"/>
                    <a:pt x="9356188" y="45720"/>
                    <a:pt x="9356188" y="101600"/>
                  </a:cubicBezTo>
                  <a:cubicBezTo>
                    <a:pt x="9356188" y="157480"/>
                    <a:pt x="9278220" y="203200"/>
                    <a:pt x="9182925" y="203200"/>
                  </a:cubicBezTo>
                  <a:cubicBezTo>
                    <a:pt x="9087631" y="203200"/>
                    <a:pt x="9009663" y="157480"/>
                    <a:pt x="9009663" y="101600"/>
                  </a:cubicBezTo>
                  <a:cubicBezTo>
                    <a:pt x="9009663" y="45720"/>
                    <a:pt x="9087631" y="0"/>
                    <a:pt x="9182925" y="0"/>
                  </a:cubicBezTo>
                  <a:close/>
                  <a:moveTo>
                    <a:pt x="9875976" y="0"/>
                  </a:moveTo>
                  <a:cubicBezTo>
                    <a:pt x="9971271" y="0"/>
                    <a:pt x="10049239" y="45720"/>
                    <a:pt x="10049239" y="101600"/>
                  </a:cubicBezTo>
                  <a:cubicBezTo>
                    <a:pt x="10049239" y="157480"/>
                    <a:pt x="9971271" y="203200"/>
                    <a:pt x="9875976" y="203200"/>
                  </a:cubicBezTo>
                  <a:cubicBezTo>
                    <a:pt x="9780681" y="203200"/>
                    <a:pt x="9702713" y="157480"/>
                    <a:pt x="9702713" y="101600"/>
                  </a:cubicBezTo>
                  <a:cubicBezTo>
                    <a:pt x="9702713" y="45720"/>
                    <a:pt x="9780681" y="0"/>
                    <a:pt x="9875976" y="0"/>
                  </a:cubicBezTo>
                  <a:close/>
                  <a:moveTo>
                    <a:pt x="10569027" y="0"/>
                  </a:moveTo>
                  <a:cubicBezTo>
                    <a:pt x="10664322" y="0"/>
                    <a:pt x="10742289" y="45720"/>
                    <a:pt x="10742289" y="101600"/>
                  </a:cubicBezTo>
                  <a:cubicBezTo>
                    <a:pt x="10742289" y="157480"/>
                    <a:pt x="10664322" y="203200"/>
                    <a:pt x="10569027" y="203200"/>
                  </a:cubicBezTo>
                  <a:cubicBezTo>
                    <a:pt x="10473732" y="203200"/>
                    <a:pt x="10395764" y="157480"/>
                    <a:pt x="10395764" y="101600"/>
                  </a:cubicBezTo>
                  <a:cubicBezTo>
                    <a:pt x="10395764" y="45720"/>
                    <a:pt x="10473732" y="0"/>
                    <a:pt x="10569027" y="0"/>
                  </a:cubicBezTo>
                  <a:close/>
                  <a:moveTo>
                    <a:pt x="11262078" y="0"/>
                  </a:moveTo>
                  <a:cubicBezTo>
                    <a:pt x="11357373" y="0"/>
                    <a:pt x="11435341" y="45720"/>
                    <a:pt x="11435341" y="101600"/>
                  </a:cubicBezTo>
                  <a:cubicBezTo>
                    <a:pt x="11435341" y="157480"/>
                    <a:pt x="11357373" y="203200"/>
                    <a:pt x="11262078" y="203200"/>
                  </a:cubicBezTo>
                  <a:cubicBezTo>
                    <a:pt x="11166783" y="203200"/>
                    <a:pt x="11088816" y="157480"/>
                    <a:pt x="11088816" y="101600"/>
                  </a:cubicBezTo>
                  <a:cubicBezTo>
                    <a:pt x="11088816" y="45720"/>
                    <a:pt x="11166783" y="0"/>
                    <a:pt x="11262078" y="0"/>
                  </a:cubicBezTo>
                  <a:close/>
                  <a:moveTo>
                    <a:pt x="11955129" y="0"/>
                  </a:moveTo>
                  <a:cubicBezTo>
                    <a:pt x="12050424" y="0"/>
                    <a:pt x="12128392" y="45720"/>
                    <a:pt x="12128392" y="101600"/>
                  </a:cubicBezTo>
                  <a:cubicBezTo>
                    <a:pt x="12128392" y="157480"/>
                    <a:pt x="12050424" y="203200"/>
                    <a:pt x="11955129" y="203200"/>
                  </a:cubicBezTo>
                  <a:cubicBezTo>
                    <a:pt x="11859834" y="203200"/>
                    <a:pt x="11781866" y="157480"/>
                    <a:pt x="11781866" y="101600"/>
                  </a:cubicBezTo>
                  <a:cubicBezTo>
                    <a:pt x="11781866" y="45720"/>
                    <a:pt x="11859834" y="0"/>
                    <a:pt x="11955129" y="0"/>
                  </a:cubicBezTo>
                  <a:close/>
                  <a:moveTo>
                    <a:pt x="12648179" y="0"/>
                  </a:moveTo>
                  <a:cubicBezTo>
                    <a:pt x="12743474" y="0"/>
                    <a:pt x="12821443" y="45720"/>
                    <a:pt x="12821443" y="101600"/>
                  </a:cubicBezTo>
                  <a:cubicBezTo>
                    <a:pt x="12821443" y="157480"/>
                    <a:pt x="12743474" y="203200"/>
                    <a:pt x="12648179" y="203200"/>
                  </a:cubicBezTo>
                  <a:cubicBezTo>
                    <a:pt x="12552884" y="203200"/>
                    <a:pt x="12474917" y="157480"/>
                    <a:pt x="12474917" y="101600"/>
                  </a:cubicBezTo>
                  <a:cubicBezTo>
                    <a:pt x="12474917" y="45720"/>
                    <a:pt x="12552884" y="0"/>
                    <a:pt x="12648179" y="0"/>
                  </a:cubicBezTo>
                  <a:close/>
                  <a:moveTo>
                    <a:pt x="13341232" y="0"/>
                  </a:moveTo>
                  <a:cubicBezTo>
                    <a:pt x="13436527" y="0"/>
                    <a:pt x="13514494" y="45720"/>
                    <a:pt x="13514494" y="101600"/>
                  </a:cubicBezTo>
                  <a:cubicBezTo>
                    <a:pt x="13514494" y="157480"/>
                    <a:pt x="13436527" y="203200"/>
                    <a:pt x="13341232" y="203200"/>
                  </a:cubicBezTo>
                  <a:cubicBezTo>
                    <a:pt x="13245935" y="203200"/>
                    <a:pt x="13167968" y="157480"/>
                    <a:pt x="13167968" y="101600"/>
                  </a:cubicBezTo>
                  <a:cubicBezTo>
                    <a:pt x="13167968" y="45720"/>
                    <a:pt x="13245935" y="0"/>
                    <a:pt x="13341232" y="0"/>
                  </a:cubicBezTo>
                  <a:close/>
                  <a:moveTo>
                    <a:pt x="14034282" y="0"/>
                  </a:moveTo>
                  <a:cubicBezTo>
                    <a:pt x="14129577" y="0"/>
                    <a:pt x="14207545" y="45720"/>
                    <a:pt x="14207545" y="101600"/>
                  </a:cubicBezTo>
                  <a:cubicBezTo>
                    <a:pt x="14207545" y="157480"/>
                    <a:pt x="14129577" y="203200"/>
                    <a:pt x="14034282" y="203200"/>
                  </a:cubicBezTo>
                  <a:cubicBezTo>
                    <a:pt x="13938987" y="203200"/>
                    <a:pt x="13861018" y="157480"/>
                    <a:pt x="13861018" y="101600"/>
                  </a:cubicBezTo>
                  <a:cubicBezTo>
                    <a:pt x="13861018" y="45720"/>
                    <a:pt x="13938987" y="0"/>
                    <a:pt x="14034282" y="0"/>
                  </a:cubicBezTo>
                  <a:close/>
                </a:path>
              </a:pathLst>
            </a:custGeom>
            <a:solidFill>
              <a:srgbClr val="20202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436516" y="2716607"/>
            <a:ext cx="34149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spc="64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Context Blin</a:t>
            </a:r>
            <a:r>
              <a:rPr lang="en-US" sz="3200" spc="64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dne</a:t>
            </a:r>
            <a:r>
              <a:rPr lang="en-US" sz="3200" spc="64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14659" y="4443603"/>
            <a:ext cx="882026" cy="1157791"/>
          </a:xfrm>
          <a:custGeom>
            <a:avLst/>
            <a:gdLst/>
            <a:ahLst/>
            <a:cxnLst/>
            <a:rect r="r" b="b" t="t" l="l"/>
            <a:pathLst>
              <a:path h="1157791" w="882026">
                <a:moveTo>
                  <a:pt x="0" y="0"/>
                </a:moveTo>
                <a:lnTo>
                  <a:pt x="882026" y="0"/>
                </a:lnTo>
                <a:lnTo>
                  <a:pt x="882026" y="1157790"/>
                </a:lnTo>
                <a:lnTo>
                  <a:pt x="0" y="11577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01875" y="4443603"/>
            <a:ext cx="882026" cy="1157791"/>
          </a:xfrm>
          <a:custGeom>
            <a:avLst/>
            <a:gdLst/>
            <a:ahLst/>
            <a:cxnLst/>
            <a:rect r="r" b="b" t="t" l="l"/>
            <a:pathLst>
              <a:path h="1157791" w="882026">
                <a:moveTo>
                  <a:pt x="0" y="0"/>
                </a:moveTo>
                <a:lnTo>
                  <a:pt x="882026" y="0"/>
                </a:lnTo>
                <a:lnTo>
                  <a:pt x="882026" y="1157790"/>
                </a:lnTo>
                <a:lnTo>
                  <a:pt x="0" y="11577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802432" y="1482802"/>
            <a:ext cx="8683137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6399" spc="-3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Limitation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8. LIMITATIONS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4683" y="1533938"/>
            <a:ext cx="14578635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true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Limitation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25234" y="5691278"/>
            <a:ext cx="5037532" cy="68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6"/>
              </a:lnSpc>
            </a:pP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model must retrain when n</a:t>
            </a: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ew m</a:t>
            </a: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ovies are added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36516" y="2716607"/>
            <a:ext cx="34149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spc="64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Static mo</a:t>
            </a:r>
            <a:r>
              <a:rPr lang="en-US" sz="3200" spc="64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702987" y="4238213"/>
            <a:ext cx="882026" cy="1157791"/>
          </a:xfrm>
          <a:custGeom>
            <a:avLst/>
            <a:gdLst/>
            <a:ahLst/>
            <a:cxnLst/>
            <a:rect r="r" b="b" t="t" l="l"/>
            <a:pathLst>
              <a:path h="1157791" w="882026">
                <a:moveTo>
                  <a:pt x="0" y="0"/>
                </a:moveTo>
                <a:lnTo>
                  <a:pt x="882026" y="0"/>
                </a:lnTo>
                <a:lnTo>
                  <a:pt x="882026" y="1157790"/>
                </a:lnTo>
                <a:lnTo>
                  <a:pt x="0" y="11577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8. LIMITATIONS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4683" y="1533938"/>
            <a:ext cx="14578635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true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Limitation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03723" y="2703770"/>
            <a:ext cx="748055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spc="64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Sparse Data &amp; Feedback loop limitation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36906" y="5895836"/>
            <a:ext cx="5037532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b="true" sz="2525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Short Plots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36906" y="6575568"/>
            <a:ext cx="5037532" cy="1732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6"/>
              </a:lnSpc>
            </a:pP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 a TF-IDF matrix, a short plot might only have 2 or 3 non-zero values. Upon compression via SVD, the movie becomes a "ghost" in the vector space - it has no strong identity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30604" y="5857407"/>
            <a:ext cx="5824567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b="true" sz="2525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"Cold Start" &amp; Missing Feedback Loop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21926" y="6455271"/>
            <a:ext cx="6441923" cy="1034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6"/>
              </a:lnSpc>
            </a:pPr>
            <a:r>
              <a:rPr lang="en-US" sz="2019" spc="4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Most modern search engines can actively from User action. However, since LSA is offline and expensive to train, it cannot learn in realtime </a:t>
            </a:r>
          </a:p>
        </p:txBody>
      </p:sp>
      <p:grpSp>
        <p:nvGrpSpPr>
          <p:cNvPr name="Group 9" id="9"/>
          <p:cNvGrpSpPr/>
          <p:nvPr/>
        </p:nvGrpSpPr>
        <p:grpSpPr>
          <a:xfrm rot="5400000">
            <a:off x="7036956" y="6438196"/>
            <a:ext cx="4214088" cy="224900"/>
            <a:chOff x="0" y="0"/>
            <a:chExt cx="9194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69420" y="304800"/>
              <a:ext cx="14207544" cy="203200"/>
            </a:xfrm>
            <a:custGeom>
              <a:avLst/>
              <a:gdLst/>
              <a:ahLst/>
              <a:cxnLst/>
              <a:rect r="r" b="b" t="t" l="l"/>
              <a:pathLst>
                <a:path h="203200" w="14207544">
                  <a:moveTo>
                    <a:pt x="173263" y="0"/>
                  </a:moveTo>
                  <a:cubicBezTo>
                    <a:pt x="268558" y="0"/>
                    <a:pt x="346526" y="45720"/>
                    <a:pt x="346526" y="101600"/>
                  </a:cubicBezTo>
                  <a:cubicBezTo>
                    <a:pt x="346526" y="157480"/>
                    <a:pt x="268558" y="203200"/>
                    <a:pt x="173263" y="203200"/>
                  </a:cubicBezTo>
                  <a:cubicBezTo>
                    <a:pt x="77968" y="203200"/>
                    <a:pt x="0" y="157480"/>
                    <a:pt x="0" y="101600"/>
                  </a:cubicBezTo>
                  <a:cubicBezTo>
                    <a:pt x="0" y="45720"/>
                    <a:pt x="77968" y="0"/>
                    <a:pt x="173263" y="0"/>
                  </a:cubicBezTo>
                  <a:close/>
                  <a:moveTo>
                    <a:pt x="866314" y="0"/>
                  </a:moveTo>
                  <a:cubicBezTo>
                    <a:pt x="961608" y="0"/>
                    <a:pt x="1039577" y="45720"/>
                    <a:pt x="1039577" y="101600"/>
                  </a:cubicBezTo>
                  <a:cubicBezTo>
                    <a:pt x="1039577" y="157480"/>
                    <a:pt x="961608" y="203200"/>
                    <a:pt x="866314" y="203200"/>
                  </a:cubicBezTo>
                  <a:cubicBezTo>
                    <a:pt x="771019" y="203200"/>
                    <a:pt x="693051" y="157480"/>
                    <a:pt x="693051" y="101600"/>
                  </a:cubicBezTo>
                  <a:cubicBezTo>
                    <a:pt x="693051" y="45720"/>
                    <a:pt x="771019" y="0"/>
                    <a:pt x="866314" y="0"/>
                  </a:cubicBezTo>
                  <a:close/>
                  <a:moveTo>
                    <a:pt x="1559365" y="0"/>
                  </a:moveTo>
                  <a:cubicBezTo>
                    <a:pt x="1654659" y="0"/>
                    <a:pt x="1732628" y="45720"/>
                    <a:pt x="1732628" y="101600"/>
                  </a:cubicBezTo>
                  <a:cubicBezTo>
                    <a:pt x="1732628" y="157480"/>
                    <a:pt x="1654659" y="203200"/>
                    <a:pt x="1559365" y="203200"/>
                  </a:cubicBezTo>
                  <a:cubicBezTo>
                    <a:pt x="1464070" y="203200"/>
                    <a:pt x="1386102" y="157480"/>
                    <a:pt x="1386102" y="101600"/>
                  </a:cubicBezTo>
                  <a:cubicBezTo>
                    <a:pt x="1386102" y="45720"/>
                    <a:pt x="1464070" y="0"/>
                    <a:pt x="1559365" y="0"/>
                  </a:cubicBezTo>
                  <a:close/>
                  <a:moveTo>
                    <a:pt x="2252416" y="0"/>
                  </a:moveTo>
                  <a:cubicBezTo>
                    <a:pt x="2347710" y="0"/>
                    <a:pt x="2425678" y="45720"/>
                    <a:pt x="2425678" y="101600"/>
                  </a:cubicBezTo>
                  <a:cubicBezTo>
                    <a:pt x="2425678" y="157480"/>
                    <a:pt x="2347710" y="203200"/>
                    <a:pt x="2252416" y="203200"/>
                  </a:cubicBezTo>
                  <a:cubicBezTo>
                    <a:pt x="2157121" y="203200"/>
                    <a:pt x="2079153" y="157480"/>
                    <a:pt x="2079153" y="101600"/>
                  </a:cubicBezTo>
                  <a:cubicBezTo>
                    <a:pt x="2079153" y="45720"/>
                    <a:pt x="2157121" y="0"/>
                    <a:pt x="2252416" y="0"/>
                  </a:cubicBezTo>
                  <a:close/>
                  <a:moveTo>
                    <a:pt x="2945467" y="0"/>
                  </a:moveTo>
                  <a:cubicBezTo>
                    <a:pt x="3040761" y="0"/>
                    <a:pt x="3118730" y="45720"/>
                    <a:pt x="3118730" y="101600"/>
                  </a:cubicBezTo>
                  <a:cubicBezTo>
                    <a:pt x="3118730" y="157480"/>
                    <a:pt x="3040761" y="203200"/>
                    <a:pt x="2945467" y="203200"/>
                  </a:cubicBezTo>
                  <a:cubicBezTo>
                    <a:pt x="2850172" y="203200"/>
                    <a:pt x="2772204" y="157480"/>
                    <a:pt x="2772204" y="101600"/>
                  </a:cubicBezTo>
                  <a:cubicBezTo>
                    <a:pt x="2772204" y="45720"/>
                    <a:pt x="2850172" y="0"/>
                    <a:pt x="2945467" y="0"/>
                  </a:cubicBezTo>
                  <a:close/>
                  <a:moveTo>
                    <a:pt x="3638518" y="0"/>
                  </a:moveTo>
                  <a:cubicBezTo>
                    <a:pt x="3733812" y="0"/>
                    <a:pt x="3811780" y="45720"/>
                    <a:pt x="3811780" y="101600"/>
                  </a:cubicBezTo>
                  <a:cubicBezTo>
                    <a:pt x="3811780" y="157480"/>
                    <a:pt x="3733812" y="203200"/>
                    <a:pt x="3638518" y="203200"/>
                  </a:cubicBezTo>
                  <a:cubicBezTo>
                    <a:pt x="3543223" y="203200"/>
                    <a:pt x="3465255" y="157480"/>
                    <a:pt x="3465255" y="101600"/>
                  </a:cubicBezTo>
                  <a:cubicBezTo>
                    <a:pt x="3465255" y="45720"/>
                    <a:pt x="3543223" y="0"/>
                    <a:pt x="3638518" y="0"/>
                  </a:cubicBezTo>
                  <a:close/>
                  <a:moveTo>
                    <a:pt x="4331569" y="0"/>
                  </a:moveTo>
                  <a:cubicBezTo>
                    <a:pt x="4426863" y="0"/>
                    <a:pt x="4504831" y="45720"/>
                    <a:pt x="4504831" y="101600"/>
                  </a:cubicBezTo>
                  <a:cubicBezTo>
                    <a:pt x="4504831" y="157480"/>
                    <a:pt x="4426863" y="203200"/>
                    <a:pt x="4331569" y="203200"/>
                  </a:cubicBezTo>
                  <a:cubicBezTo>
                    <a:pt x="4236274" y="203200"/>
                    <a:pt x="4158306" y="157480"/>
                    <a:pt x="4158306" y="101600"/>
                  </a:cubicBezTo>
                  <a:cubicBezTo>
                    <a:pt x="4158306" y="45720"/>
                    <a:pt x="4236274" y="0"/>
                    <a:pt x="4331569" y="0"/>
                  </a:cubicBezTo>
                  <a:close/>
                  <a:moveTo>
                    <a:pt x="5024619" y="0"/>
                  </a:moveTo>
                  <a:cubicBezTo>
                    <a:pt x="5119914" y="0"/>
                    <a:pt x="5197882" y="45720"/>
                    <a:pt x="5197882" y="101600"/>
                  </a:cubicBezTo>
                  <a:cubicBezTo>
                    <a:pt x="5197882" y="157480"/>
                    <a:pt x="5119914" y="203200"/>
                    <a:pt x="5024619" y="203200"/>
                  </a:cubicBezTo>
                  <a:cubicBezTo>
                    <a:pt x="4929325" y="203200"/>
                    <a:pt x="4851357" y="157480"/>
                    <a:pt x="4851357" y="101600"/>
                  </a:cubicBezTo>
                  <a:cubicBezTo>
                    <a:pt x="4851357" y="45720"/>
                    <a:pt x="4929325" y="0"/>
                    <a:pt x="5024619" y="0"/>
                  </a:cubicBezTo>
                  <a:close/>
                  <a:moveTo>
                    <a:pt x="5717671" y="0"/>
                  </a:moveTo>
                  <a:cubicBezTo>
                    <a:pt x="5812965" y="0"/>
                    <a:pt x="5890933" y="45720"/>
                    <a:pt x="5890933" y="101600"/>
                  </a:cubicBezTo>
                  <a:cubicBezTo>
                    <a:pt x="5890933" y="157480"/>
                    <a:pt x="5812965" y="203200"/>
                    <a:pt x="5717671" y="203200"/>
                  </a:cubicBezTo>
                  <a:cubicBezTo>
                    <a:pt x="5622376" y="203200"/>
                    <a:pt x="5544408" y="157480"/>
                    <a:pt x="5544408" y="101600"/>
                  </a:cubicBezTo>
                  <a:cubicBezTo>
                    <a:pt x="5544408" y="45720"/>
                    <a:pt x="5622376" y="0"/>
                    <a:pt x="5717671" y="0"/>
                  </a:cubicBezTo>
                  <a:close/>
                  <a:moveTo>
                    <a:pt x="6410721" y="0"/>
                  </a:moveTo>
                  <a:cubicBezTo>
                    <a:pt x="6506015" y="0"/>
                    <a:pt x="6583984" y="45720"/>
                    <a:pt x="6583984" y="101600"/>
                  </a:cubicBezTo>
                  <a:cubicBezTo>
                    <a:pt x="6583984" y="157480"/>
                    <a:pt x="6506015" y="203200"/>
                    <a:pt x="6410721" y="203200"/>
                  </a:cubicBezTo>
                  <a:cubicBezTo>
                    <a:pt x="6315427" y="203200"/>
                    <a:pt x="6237459" y="157480"/>
                    <a:pt x="6237459" y="101600"/>
                  </a:cubicBezTo>
                  <a:cubicBezTo>
                    <a:pt x="6237459" y="45720"/>
                    <a:pt x="6315427" y="0"/>
                    <a:pt x="6410721" y="0"/>
                  </a:cubicBezTo>
                  <a:close/>
                  <a:moveTo>
                    <a:pt x="7103772" y="0"/>
                  </a:moveTo>
                  <a:cubicBezTo>
                    <a:pt x="7199067" y="0"/>
                    <a:pt x="7277035" y="45720"/>
                    <a:pt x="7277035" y="101600"/>
                  </a:cubicBezTo>
                  <a:cubicBezTo>
                    <a:pt x="7277035" y="157480"/>
                    <a:pt x="7199067" y="203200"/>
                    <a:pt x="7103772" y="203200"/>
                  </a:cubicBezTo>
                  <a:cubicBezTo>
                    <a:pt x="7008478" y="203200"/>
                    <a:pt x="6930510" y="157480"/>
                    <a:pt x="6930510" y="101600"/>
                  </a:cubicBezTo>
                  <a:cubicBezTo>
                    <a:pt x="6930510" y="45720"/>
                    <a:pt x="7008478" y="0"/>
                    <a:pt x="7103772" y="0"/>
                  </a:cubicBezTo>
                  <a:close/>
                  <a:moveTo>
                    <a:pt x="7796823" y="0"/>
                  </a:moveTo>
                  <a:cubicBezTo>
                    <a:pt x="7892118" y="0"/>
                    <a:pt x="7970086" y="45720"/>
                    <a:pt x="7970086" y="101600"/>
                  </a:cubicBezTo>
                  <a:cubicBezTo>
                    <a:pt x="7970086" y="157480"/>
                    <a:pt x="7892118" y="203200"/>
                    <a:pt x="7796823" y="203200"/>
                  </a:cubicBezTo>
                  <a:cubicBezTo>
                    <a:pt x="7701529" y="203200"/>
                    <a:pt x="7623560" y="157480"/>
                    <a:pt x="7623560" y="101600"/>
                  </a:cubicBezTo>
                  <a:cubicBezTo>
                    <a:pt x="7623560" y="45720"/>
                    <a:pt x="7701529" y="0"/>
                    <a:pt x="7796823" y="0"/>
                  </a:cubicBezTo>
                  <a:close/>
                  <a:moveTo>
                    <a:pt x="8489874" y="0"/>
                  </a:moveTo>
                  <a:cubicBezTo>
                    <a:pt x="8585168" y="0"/>
                    <a:pt x="8663137" y="45720"/>
                    <a:pt x="8663137" y="101600"/>
                  </a:cubicBezTo>
                  <a:cubicBezTo>
                    <a:pt x="8663137" y="157480"/>
                    <a:pt x="8585168" y="203200"/>
                    <a:pt x="8489874" y="203200"/>
                  </a:cubicBezTo>
                  <a:cubicBezTo>
                    <a:pt x="8394580" y="203200"/>
                    <a:pt x="8316611" y="157480"/>
                    <a:pt x="8316611" y="101600"/>
                  </a:cubicBezTo>
                  <a:cubicBezTo>
                    <a:pt x="8316611" y="45720"/>
                    <a:pt x="8394580" y="0"/>
                    <a:pt x="8489874" y="0"/>
                  </a:cubicBezTo>
                  <a:close/>
                  <a:moveTo>
                    <a:pt x="9182925" y="0"/>
                  </a:moveTo>
                  <a:cubicBezTo>
                    <a:pt x="9278220" y="0"/>
                    <a:pt x="9356188" y="45720"/>
                    <a:pt x="9356188" y="101600"/>
                  </a:cubicBezTo>
                  <a:cubicBezTo>
                    <a:pt x="9356188" y="157480"/>
                    <a:pt x="9278220" y="203200"/>
                    <a:pt x="9182925" y="203200"/>
                  </a:cubicBezTo>
                  <a:cubicBezTo>
                    <a:pt x="9087631" y="203200"/>
                    <a:pt x="9009663" y="157480"/>
                    <a:pt x="9009663" y="101600"/>
                  </a:cubicBezTo>
                  <a:cubicBezTo>
                    <a:pt x="9009663" y="45720"/>
                    <a:pt x="9087631" y="0"/>
                    <a:pt x="9182925" y="0"/>
                  </a:cubicBezTo>
                  <a:close/>
                  <a:moveTo>
                    <a:pt x="9875976" y="0"/>
                  </a:moveTo>
                  <a:cubicBezTo>
                    <a:pt x="9971271" y="0"/>
                    <a:pt x="10049239" y="45720"/>
                    <a:pt x="10049239" y="101600"/>
                  </a:cubicBezTo>
                  <a:cubicBezTo>
                    <a:pt x="10049239" y="157480"/>
                    <a:pt x="9971271" y="203200"/>
                    <a:pt x="9875976" y="203200"/>
                  </a:cubicBezTo>
                  <a:cubicBezTo>
                    <a:pt x="9780681" y="203200"/>
                    <a:pt x="9702713" y="157480"/>
                    <a:pt x="9702713" y="101600"/>
                  </a:cubicBezTo>
                  <a:cubicBezTo>
                    <a:pt x="9702713" y="45720"/>
                    <a:pt x="9780681" y="0"/>
                    <a:pt x="9875976" y="0"/>
                  </a:cubicBezTo>
                  <a:close/>
                  <a:moveTo>
                    <a:pt x="10569027" y="0"/>
                  </a:moveTo>
                  <a:cubicBezTo>
                    <a:pt x="10664322" y="0"/>
                    <a:pt x="10742289" y="45720"/>
                    <a:pt x="10742289" y="101600"/>
                  </a:cubicBezTo>
                  <a:cubicBezTo>
                    <a:pt x="10742289" y="157480"/>
                    <a:pt x="10664322" y="203200"/>
                    <a:pt x="10569027" y="203200"/>
                  </a:cubicBezTo>
                  <a:cubicBezTo>
                    <a:pt x="10473732" y="203200"/>
                    <a:pt x="10395764" y="157480"/>
                    <a:pt x="10395764" y="101600"/>
                  </a:cubicBezTo>
                  <a:cubicBezTo>
                    <a:pt x="10395764" y="45720"/>
                    <a:pt x="10473732" y="0"/>
                    <a:pt x="10569027" y="0"/>
                  </a:cubicBezTo>
                  <a:close/>
                  <a:moveTo>
                    <a:pt x="11262078" y="0"/>
                  </a:moveTo>
                  <a:cubicBezTo>
                    <a:pt x="11357373" y="0"/>
                    <a:pt x="11435341" y="45720"/>
                    <a:pt x="11435341" y="101600"/>
                  </a:cubicBezTo>
                  <a:cubicBezTo>
                    <a:pt x="11435341" y="157480"/>
                    <a:pt x="11357373" y="203200"/>
                    <a:pt x="11262078" y="203200"/>
                  </a:cubicBezTo>
                  <a:cubicBezTo>
                    <a:pt x="11166783" y="203200"/>
                    <a:pt x="11088816" y="157480"/>
                    <a:pt x="11088816" y="101600"/>
                  </a:cubicBezTo>
                  <a:cubicBezTo>
                    <a:pt x="11088816" y="45720"/>
                    <a:pt x="11166783" y="0"/>
                    <a:pt x="11262078" y="0"/>
                  </a:cubicBezTo>
                  <a:close/>
                  <a:moveTo>
                    <a:pt x="11955129" y="0"/>
                  </a:moveTo>
                  <a:cubicBezTo>
                    <a:pt x="12050424" y="0"/>
                    <a:pt x="12128392" y="45720"/>
                    <a:pt x="12128392" y="101600"/>
                  </a:cubicBezTo>
                  <a:cubicBezTo>
                    <a:pt x="12128392" y="157480"/>
                    <a:pt x="12050424" y="203200"/>
                    <a:pt x="11955129" y="203200"/>
                  </a:cubicBezTo>
                  <a:cubicBezTo>
                    <a:pt x="11859834" y="203200"/>
                    <a:pt x="11781866" y="157480"/>
                    <a:pt x="11781866" y="101600"/>
                  </a:cubicBezTo>
                  <a:cubicBezTo>
                    <a:pt x="11781866" y="45720"/>
                    <a:pt x="11859834" y="0"/>
                    <a:pt x="11955129" y="0"/>
                  </a:cubicBezTo>
                  <a:close/>
                  <a:moveTo>
                    <a:pt x="12648179" y="0"/>
                  </a:moveTo>
                  <a:cubicBezTo>
                    <a:pt x="12743474" y="0"/>
                    <a:pt x="12821443" y="45720"/>
                    <a:pt x="12821443" y="101600"/>
                  </a:cubicBezTo>
                  <a:cubicBezTo>
                    <a:pt x="12821443" y="157480"/>
                    <a:pt x="12743474" y="203200"/>
                    <a:pt x="12648179" y="203200"/>
                  </a:cubicBezTo>
                  <a:cubicBezTo>
                    <a:pt x="12552884" y="203200"/>
                    <a:pt x="12474917" y="157480"/>
                    <a:pt x="12474917" y="101600"/>
                  </a:cubicBezTo>
                  <a:cubicBezTo>
                    <a:pt x="12474917" y="45720"/>
                    <a:pt x="12552884" y="0"/>
                    <a:pt x="12648179" y="0"/>
                  </a:cubicBezTo>
                  <a:close/>
                  <a:moveTo>
                    <a:pt x="13341232" y="0"/>
                  </a:moveTo>
                  <a:cubicBezTo>
                    <a:pt x="13436527" y="0"/>
                    <a:pt x="13514494" y="45720"/>
                    <a:pt x="13514494" y="101600"/>
                  </a:cubicBezTo>
                  <a:cubicBezTo>
                    <a:pt x="13514494" y="157480"/>
                    <a:pt x="13436527" y="203200"/>
                    <a:pt x="13341232" y="203200"/>
                  </a:cubicBezTo>
                  <a:cubicBezTo>
                    <a:pt x="13245935" y="203200"/>
                    <a:pt x="13167968" y="157480"/>
                    <a:pt x="13167968" y="101600"/>
                  </a:cubicBezTo>
                  <a:cubicBezTo>
                    <a:pt x="13167968" y="45720"/>
                    <a:pt x="13245935" y="0"/>
                    <a:pt x="13341232" y="0"/>
                  </a:cubicBezTo>
                  <a:close/>
                  <a:moveTo>
                    <a:pt x="14034282" y="0"/>
                  </a:moveTo>
                  <a:cubicBezTo>
                    <a:pt x="14129577" y="0"/>
                    <a:pt x="14207545" y="45720"/>
                    <a:pt x="14207545" y="101600"/>
                  </a:cubicBezTo>
                  <a:cubicBezTo>
                    <a:pt x="14207545" y="157480"/>
                    <a:pt x="14129577" y="203200"/>
                    <a:pt x="14034282" y="203200"/>
                  </a:cubicBezTo>
                  <a:cubicBezTo>
                    <a:pt x="13938987" y="203200"/>
                    <a:pt x="13861018" y="157480"/>
                    <a:pt x="13861018" y="101600"/>
                  </a:cubicBezTo>
                  <a:cubicBezTo>
                    <a:pt x="13861018" y="45720"/>
                    <a:pt x="13938987" y="0"/>
                    <a:pt x="14034282" y="0"/>
                  </a:cubicBezTo>
                  <a:close/>
                </a:path>
              </a:pathLst>
            </a:custGeom>
            <a:solidFill>
              <a:srgbClr val="20202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216674" y="4559064"/>
            <a:ext cx="877997" cy="926868"/>
          </a:xfrm>
          <a:custGeom>
            <a:avLst/>
            <a:gdLst/>
            <a:ahLst/>
            <a:cxnLst/>
            <a:rect r="r" b="b" t="t" l="l"/>
            <a:pathLst>
              <a:path h="926868" w="877997">
                <a:moveTo>
                  <a:pt x="0" y="0"/>
                </a:moveTo>
                <a:lnTo>
                  <a:pt x="877997" y="0"/>
                </a:lnTo>
                <a:lnTo>
                  <a:pt x="877997" y="926868"/>
                </a:lnTo>
                <a:lnTo>
                  <a:pt x="0" y="92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03889" y="4559064"/>
            <a:ext cx="877997" cy="926868"/>
          </a:xfrm>
          <a:custGeom>
            <a:avLst/>
            <a:gdLst/>
            <a:ahLst/>
            <a:cxnLst/>
            <a:rect r="r" b="b" t="t" l="l"/>
            <a:pathLst>
              <a:path h="926868" w="877997">
                <a:moveTo>
                  <a:pt x="0" y="0"/>
                </a:moveTo>
                <a:lnTo>
                  <a:pt x="877997" y="0"/>
                </a:lnTo>
                <a:lnTo>
                  <a:pt x="877997" y="926868"/>
                </a:lnTo>
                <a:lnTo>
                  <a:pt x="0" y="92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8. LIMITATIONS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444174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1" y="0"/>
                </a:lnTo>
                <a:lnTo>
                  <a:pt x="5035531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577441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0" y="0"/>
                </a:lnTo>
                <a:lnTo>
                  <a:pt x="5035530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9599104" y="6740535"/>
            <a:ext cx="5035531" cy="5035531"/>
          </a:xfrm>
          <a:custGeom>
            <a:avLst/>
            <a:gdLst/>
            <a:ahLst/>
            <a:cxnLst/>
            <a:rect r="r" b="b" t="t" l="l"/>
            <a:pathLst>
              <a:path h="5035531" w="5035531">
                <a:moveTo>
                  <a:pt x="0" y="0"/>
                </a:moveTo>
                <a:lnTo>
                  <a:pt x="5035531" y="0"/>
                </a:lnTo>
                <a:lnTo>
                  <a:pt x="5035531" y="5035530"/>
                </a:lnTo>
                <a:lnTo>
                  <a:pt x="0" y="503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0682" y="4915862"/>
            <a:ext cx="7331263" cy="4342438"/>
            <a:chOff x="0" y="0"/>
            <a:chExt cx="1228195" cy="7274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8195" cy="727482"/>
            </a:xfrm>
            <a:custGeom>
              <a:avLst/>
              <a:gdLst/>
              <a:ahLst/>
              <a:cxnLst/>
              <a:rect r="r" b="b" t="t" l="l"/>
              <a:pathLst>
                <a:path h="727482" w="1228195">
                  <a:moveTo>
                    <a:pt x="0" y="0"/>
                  </a:moveTo>
                  <a:lnTo>
                    <a:pt x="1228195" y="0"/>
                  </a:lnTo>
                  <a:lnTo>
                    <a:pt x="1228195" y="727482"/>
                  </a:lnTo>
                  <a:lnTo>
                    <a:pt x="0" y="727482"/>
                  </a:lnTo>
                  <a:close/>
                </a:path>
              </a:pathLst>
            </a:custGeom>
            <a:solidFill>
              <a:srgbClr val="76B3D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26055" y="4915862"/>
            <a:ext cx="7331263" cy="4342438"/>
            <a:chOff x="0" y="0"/>
            <a:chExt cx="1228195" cy="727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8195" cy="727482"/>
            </a:xfrm>
            <a:custGeom>
              <a:avLst/>
              <a:gdLst/>
              <a:ahLst/>
              <a:cxnLst/>
              <a:rect r="r" b="b" t="t" l="l"/>
              <a:pathLst>
                <a:path h="727482" w="1228195">
                  <a:moveTo>
                    <a:pt x="0" y="0"/>
                  </a:moveTo>
                  <a:lnTo>
                    <a:pt x="1228195" y="0"/>
                  </a:lnTo>
                  <a:lnTo>
                    <a:pt x="1228195" y="727482"/>
                  </a:lnTo>
                  <a:lnTo>
                    <a:pt x="0" y="727482"/>
                  </a:lnTo>
                  <a:close/>
                </a:path>
              </a:pathLst>
            </a:custGeom>
            <a:solidFill>
              <a:srgbClr val="76B3D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64244" y="5580226"/>
            <a:ext cx="6161738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4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BM25 (Bes</a:t>
            </a:r>
            <a:r>
              <a:rPr lang="en-US" sz="2100" spc="4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 Matching 25) uses "saturation." Once a word like "murder" appears 3 or 4 times in a plot, BM25 stops giving it extra points.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 spc="4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can prevents long, repetitive Wikipedia summaries from unfairly dominating the search results just because they mention a keyword more often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15445" y="5181600"/>
            <a:ext cx="6161738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25" b="true">
                <a:solidFill>
                  <a:srgbClr val="DC3C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BM25 over TF-IDF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62019" y="5765964"/>
            <a:ext cx="6161738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4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</a:t>
            </a:r>
            <a:r>
              <a:rPr lang="en-US" sz="2100" spc="4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tead of looking at a "bag of words" as LSA; SBERT uses a Transformer architecture to create a single vector for the entire sentence.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 spc="4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understands that "A man chasing a dog" and "A dog chasing a man" are different &amp; also handles </a:t>
            </a:r>
            <a:r>
              <a:rPr lang="en-US" b="true" sz="2100" spc="42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negation</a:t>
            </a:r>
            <a:r>
              <a:rPr lang="en-US" sz="2100" spc="42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"not a comedy"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3047" y="5181600"/>
            <a:ext cx="6559681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25" b="true">
                <a:solidFill>
                  <a:srgbClr val="DC3C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SBERT Mode: T</a:t>
            </a:r>
            <a:r>
              <a:rPr lang="en-US" b="true" sz="2525">
                <a:solidFill>
                  <a:srgbClr val="DC3C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rue Semantic Understanding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240119" y="2210413"/>
            <a:ext cx="9807763" cy="1391285"/>
            <a:chOff x="0" y="0"/>
            <a:chExt cx="13077017" cy="185504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383242"/>
              <a:ext cx="1307701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940"/>
                </a:lnSpc>
                <a:spcBef>
                  <a:spcPct val="0"/>
                </a:spcBef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7150"/>
              <a:ext cx="13077017" cy="1232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9"/>
                </a:lnSpc>
              </a:pPr>
              <a:r>
                <a:rPr lang="en-US" b="true" sz="6399" spc="-31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Pot</a:t>
              </a:r>
              <a:r>
                <a:rPr lang="en-US" b="true" sz="6399" spc="-31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ential Steps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GROUP 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 P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HNOM PENH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04260" y="7052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95285" y="5946324"/>
            <a:ext cx="5934570" cy="5934570"/>
          </a:xfrm>
          <a:custGeom>
            <a:avLst/>
            <a:gdLst/>
            <a:ahLst/>
            <a:cxnLst/>
            <a:rect r="r" b="b" t="t" l="l"/>
            <a:pathLst>
              <a:path h="5934570" w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440722"/>
            <a:ext cx="7315200" cy="2846278"/>
          </a:xfrm>
          <a:custGeom>
            <a:avLst/>
            <a:gdLst/>
            <a:ahLst/>
            <a:cxnLst/>
            <a:rect r="r" b="b" t="t" l="l"/>
            <a:pathLst>
              <a:path h="2846278" w="7315200">
                <a:moveTo>
                  <a:pt x="0" y="0"/>
                </a:moveTo>
                <a:lnTo>
                  <a:pt x="7315200" y="0"/>
                </a:lnTo>
                <a:lnTo>
                  <a:pt x="7315200" y="2846278"/>
                </a:lnTo>
                <a:lnTo>
                  <a:pt x="0" y="2846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74077" y="2636259"/>
            <a:ext cx="1760492" cy="2860829"/>
          </a:xfrm>
          <a:custGeom>
            <a:avLst/>
            <a:gdLst/>
            <a:ahLst/>
            <a:cxnLst/>
            <a:rect r="r" b="b" t="t" l="l"/>
            <a:pathLst>
              <a:path h="2860829" w="1760492">
                <a:moveTo>
                  <a:pt x="0" y="0"/>
                </a:moveTo>
                <a:lnTo>
                  <a:pt x="1760493" y="0"/>
                </a:lnTo>
                <a:lnTo>
                  <a:pt x="1760493" y="2860830"/>
                </a:lnTo>
                <a:lnTo>
                  <a:pt x="0" y="2860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7097" t="-91985" r="0" b="-1545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19877" y="2544949"/>
            <a:ext cx="5888684" cy="2992859"/>
          </a:xfrm>
          <a:custGeom>
            <a:avLst/>
            <a:gdLst/>
            <a:ahLst/>
            <a:cxnLst/>
            <a:rect r="r" b="b" t="t" l="l"/>
            <a:pathLst>
              <a:path h="2992859" w="5888684">
                <a:moveTo>
                  <a:pt x="0" y="0"/>
                </a:moveTo>
                <a:lnTo>
                  <a:pt x="5888684" y="0"/>
                </a:lnTo>
                <a:lnTo>
                  <a:pt x="5888684" y="2992859"/>
                </a:lnTo>
                <a:lnTo>
                  <a:pt x="0" y="2992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034" r="-1028" b="-1374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51191" y="2596053"/>
            <a:ext cx="1828442" cy="2894450"/>
          </a:xfrm>
          <a:custGeom>
            <a:avLst/>
            <a:gdLst/>
            <a:ahLst/>
            <a:cxnLst/>
            <a:rect r="r" b="b" t="t" l="l"/>
            <a:pathLst>
              <a:path h="2894450" w="1828442">
                <a:moveTo>
                  <a:pt x="0" y="0"/>
                </a:moveTo>
                <a:lnTo>
                  <a:pt x="1828442" y="0"/>
                </a:lnTo>
                <a:lnTo>
                  <a:pt x="1828442" y="2894450"/>
                </a:lnTo>
                <a:lnTo>
                  <a:pt x="0" y="289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9690" r="-224569" b="-1534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673969" y="3927722"/>
            <a:ext cx="10940062" cy="2462016"/>
            <a:chOff x="0" y="0"/>
            <a:chExt cx="14586750" cy="328268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810883"/>
              <a:ext cx="1458675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728545"/>
              <a:ext cx="14586750" cy="578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5"/>
                </a:lnSpc>
              </a:pPr>
              <a:r>
                <a:rPr lang="en-US" sz="3125" spc="140">
                  <a:solidFill>
                    <a:srgbClr val="DC3C4D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For Your Time!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14586750" cy="1232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9"/>
                </a:lnSpc>
              </a:pPr>
              <a:r>
                <a:rPr lang="en-US" sz="6399" b="true">
                  <a:solidFill>
                    <a:srgbClr val="2020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Thank you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GROUP 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42888" y="827495"/>
            <a:ext cx="4216412" cy="23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60"/>
              </a:lnSpc>
              <a:spcBef>
                <a:spcPct val="0"/>
              </a:spcBef>
            </a:pPr>
            <a:r>
              <a:rPr lang="en-US" sz="1400" spc="21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ROYAL UNIVERSITY OF</a:t>
            </a:r>
            <a:r>
              <a:rPr lang="en-US" sz="1400" spc="210" u="none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PHNOM PENH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DAHFKo6nXjI</dc:identifier>
  <dcterms:modified xsi:type="dcterms:W3CDTF">2011-08-01T06:04:30Z</dcterms:modified>
  <cp:revision>1</cp:revision>
  <dc:title>Latent Semantic Analysis SVD</dc:title>
</cp:coreProperties>
</file>